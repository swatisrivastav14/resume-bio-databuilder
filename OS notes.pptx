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7/19/2025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7/19/2025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7/19/2025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6474-5B4E-5AB2-2F57-948C750AA6A6}"/>
              </a:ext>
            </a:extLst>
          </p:cNvPr>
          <p:cNvSpPr>
            <a:spLocks noGrp="1"/>
          </p:cNvSpPr>
          <p:nvPr>
            <p:ph type="ctrTitle"/>
          </p:nvPr>
        </p:nvSpPr>
        <p:spPr/>
        <p:txBody>
          <a:bodyPr/>
          <a:lstStyle/>
          <a:p>
            <a:r>
              <a:rPr lang="en-US" b="1" i="1" dirty="0" err="1">
                <a:solidFill>
                  <a:schemeClr val="accent6">
                    <a:lumMod val="75000"/>
                  </a:schemeClr>
                </a:solidFill>
                <a:latin typeface="Algerian" panose="04020705040A02060702" pitchFamily="82" charset="0"/>
              </a:rPr>
              <a:t>Opertaing</a:t>
            </a:r>
            <a:r>
              <a:rPr lang="en-US" b="1" i="1" dirty="0">
                <a:solidFill>
                  <a:schemeClr val="accent6">
                    <a:lumMod val="75000"/>
                  </a:schemeClr>
                </a:solidFill>
                <a:latin typeface="Algerian" panose="04020705040A02060702" pitchFamily="82" charset="0"/>
              </a:rPr>
              <a:t> system</a:t>
            </a:r>
            <a:endParaRPr lang="en-IN" b="1" i="1" dirty="0">
              <a:solidFill>
                <a:schemeClr val="accent6">
                  <a:lumMod val="75000"/>
                </a:schemeClr>
              </a:solidFill>
              <a:latin typeface="Algerian" panose="04020705040A02060702" pitchFamily="82" charset="0"/>
            </a:endParaRPr>
          </a:p>
        </p:txBody>
      </p:sp>
      <p:sp>
        <p:nvSpPr>
          <p:cNvPr id="3" name="Subtitle 2">
            <a:extLst>
              <a:ext uri="{FF2B5EF4-FFF2-40B4-BE49-F238E27FC236}">
                <a16:creationId xmlns:a16="http://schemas.microsoft.com/office/drawing/2014/main" id="{EAFF50E0-7E20-C0D1-C5BC-801E2D23E39D}"/>
              </a:ext>
            </a:extLst>
          </p:cNvPr>
          <p:cNvSpPr>
            <a:spLocks noGrp="1"/>
          </p:cNvSpPr>
          <p:nvPr>
            <p:ph type="subTitle" idx="1"/>
          </p:nvPr>
        </p:nvSpPr>
        <p:spPr/>
        <p:txBody>
          <a:bodyPr/>
          <a:lstStyle/>
          <a:p>
            <a:r>
              <a:rPr lang="en-US" dirty="0"/>
              <a:t>Purnima </a:t>
            </a:r>
            <a:r>
              <a:rPr lang="en-US" dirty="0" err="1"/>
              <a:t>maam</a:t>
            </a:r>
            <a:r>
              <a:rPr lang="en-US" dirty="0"/>
              <a:t>,</a:t>
            </a:r>
          </a:p>
          <a:p>
            <a:r>
              <a:rPr lang="en-US" dirty="0"/>
              <a:t>Unit 1</a:t>
            </a:r>
            <a:endParaRPr lang="en-IN" dirty="0"/>
          </a:p>
        </p:txBody>
      </p:sp>
    </p:spTree>
    <p:extLst>
      <p:ext uri="{BB962C8B-B14F-4D97-AF65-F5344CB8AC3E}">
        <p14:creationId xmlns:p14="http://schemas.microsoft.com/office/powerpoint/2010/main" val="639795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217EC-C0E2-B0ED-7E42-9BC2ED6499B5}"/>
              </a:ext>
            </a:extLst>
          </p:cNvPr>
          <p:cNvSpPr>
            <a:spLocks noGrp="1"/>
          </p:cNvSpPr>
          <p:nvPr>
            <p:ph type="title"/>
          </p:nvPr>
        </p:nvSpPr>
        <p:spPr>
          <a:xfrm>
            <a:off x="0" y="0"/>
            <a:ext cx="9603275" cy="1049235"/>
          </a:xfrm>
        </p:spPr>
        <p:txBody>
          <a:bodyPr/>
          <a:lstStyle/>
          <a:p>
            <a:r>
              <a:rPr lang="en-US" i="1" dirty="0">
                <a:latin typeface="Algerian" panose="04020705040A02060702" pitchFamily="82" charset="0"/>
              </a:rPr>
              <a:t>***Types of Operating System***</a:t>
            </a:r>
            <a:br>
              <a:rPr lang="en-IN" i="1" dirty="0">
                <a:latin typeface="Algerian" panose="04020705040A02060702" pitchFamily="82" charset="0"/>
              </a:rPr>
            </a:br>
            <a:endParaRPr lang="en-IN" i="1" dirty="0">
              <a:latin typeface="Algerian" panose="04020705040A02060702" pitchFamily="82" charset="0"/>
            </a:endParaRPr>
          </a:p>
        </p:txBody>
      </p:sp>
      <p:sp>
        <p:nvSpPr>
          <p:cNvPr id="3" name="Content Placeholder 2">
            <a:extLst>
              <a:ext uri="{FF2B5EF4-FFF2-40B4-BE49-F238E27FC236}">
                <a16:creationId xmlns:a16="http://schemas.microsoft.com/office/drawing/2014/main" id="{BB420402-4BC3-DC3C-E946-A4D083B10A21}"/>
              </a:ext>
            </a:extLst>
          </p:cNvPr>
          <p:cNvSpPr>
            <a:spLocks noGrp="1"/>
          </p:cNvSpPr>
          <p:nvPr>
            <p:ph idx="1"/>
          </p:nvPr>
        </p:nvSpPr>
        <p:spPr>
          <a:xfrm>
            <a:off x="389696" y="727706"/>
            <a:ext cx="9603275" cy="3450613"/>
          </a:xfrm>
        </p:spPr>
        <p:txBody>
          <a:bodyPr/>
          <a:lstStyle/>
          <a:p>
            <a:pPr lvl="0"/>
            <a:r>
              <a:rPr lang="en-US" dirty="0">
                <a:latin typeface="Cambria Math" panose="02040503050406030204" pitchFamily="18" charset="0"/>
                <a:ea typeface="Cambria Math" panose="02040503050406030204" pitchFamily="18" charset="0"/>
              </a:rPr>
              <a:t>In the 1970s, Batch processing was very popular. In this technique, similar types of jobs were batched together and executed in time. People were used to having a single computer which was called a mainframe.</a:t>
            </a:r>
            <a:endParaRPr lang="en-IN" dirty="0">
              <a:latin typeface="Cambria Math" panose="02040503050406030204" pitchFamily="18" charset="0"/>
              <a:ea typeface="Cambria Math" panose="02040503050406030204" pitchFamily="18" charset="0"/>
            </a:endParaRPr>
          </a:p>
          <a:p>
            <a:pPr lvl="0"/>
            <a:r>
              <a:rPr lang="en-US" dirty="0">
                <a:latin typeface="Cambria Math" panose="02040503050406030204" pitchFamily="18" charset="0"/>
                <a:ea typeface="Cambria Math" panose="02040503050406030204" pitchFamily="18" charset="0"/>
              </a:rPr>
              <a:t>In Batch operating system, access is given to more than one person; they submit their respective jobs to the system for the execution.</a:t>
            </a:r>
            <a:endParaRPr lang="en-IN"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The system put all of the jobs in a queue on the basis of first come first serve and then executes the jobs one by one. The users collect their respective output when all the jobs get executed</a:t>
            </a:r>
          </a:p>
          <a:p>
            <a:endParaRPr lang="en-US" dirty="0">
              <a:latin typeface="Cambria Math" panose="02040503050406030204" pitchFamily="18" charset="0"/>
              <a:ea typeface="Cambria Math" panose="02040503050406030204" pitchFamily="18" charset="0"/>
            </a:endParaRPr>
          </a:p>
          <a:p>
            <a:endParaRPr lang="en-IN" dirty="0">
              <a:latin typeface="Cambria Math" panose="02040503050406030204" pitchFamily="18" charset="0"/>
              <a:ea typeface="Cambria Math" panose="02040503050406030204" pitchFamily="18" charset="0"/>
            </a:endParaRPr>
          </a:p>
        </p:txBody>
      </p:sp>
      <p:pic>
        <p:nvPicPr>
          <p:cNvPr id="4" name="Picture 3">
            <a:extLst>
              <a:ext uri="{FF2B5EF4-FFF2-40B4-BE49-F238E27FC236}">
                <a16:creationId xmlns:a16="http://schemas.microsoft.com/office/drawing/2014/main" id="{B83F6FF6-8D08-36D6-0CEE-7920A79EBF60}"/>
              </a:ext>
            </a:extLst>
          </p:cNvPr>
          <p:cNvPicPr>
            <a:picLocks noChangeAspect="1"/>
          </p:cNvPicPr>
          <p:nvPr/>
        </p:nvPicPr>
        <p:blipFill>
          <a:blip r:embed="rId2"/>
          <a:stretch>
            <a:fillRect/>
          </a:stretch>
        </p:blipFill>
        <p:spPr>
          <a:xfrm>
            <a:off x="7172910" y="3429000"/>
            <a:ext cx="4860730" cy="2784987"/>
          </a:xfrm>
          <a:prstGeom prst="rect">
            <a:avLst/>
          </a:prstGeom>
        </p:spPr>
      </p:pic>
    </p:spTree>
    <p:extLst>
      <p:ext uri="{BB962C8B-B14F-4D97-AF65-F5344CB8AC3E}">
        <p14:creationId xmlns:p14="http://schemas.microsoft.com/office/powerpoint/2010/main" val="678457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1100CB-E3E8-6D6F-70CE-4BDD920B62ED}"/>
              </a:ext>
            </a:extLst>
          </p:cNvPr>
          <p:cNvSpPr txBox="1"/>
          <p:nvPr/>
        </p:nvSpPr>
        <p:spPr>
          <a:xfrm>
            <a:off x="238432" y="328135"/>
            <a:ext cx="6100916" cy="3693319"/>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The users of a batch operating system do not interact with the computer directly. Each user prepares his job on an off-line device like punch cards and submits it to the computer operator. To speed up processing, jobs with similar needs are batched together and run as a group.</a:t>
            </a:r>
          </a:p>
          <a:p>
            <a:endParaRPr lang="en-US" dirty="0">
              <a:latin typeface="Times New Roman" panose="02020603050405020304" pitchFamily="18" charset="0"/>
            </a:endParaRPr>
          </a:p>
          <a:p>
            <a:r>
              <a:rPr lang="en-US" dirty="0">
                <a:latin typeface="Times New Roman" panose="02020603050405020304" pitchFamily="18" charset="0"/>
              </a:rPr>
              <a:t>PURPOSE:-</a:t>
            </a:r>
          </a:p>
          <a:p>
            <a:endParaRPr lang="en-US" dirty="0">
              <a:latin typeface="Times New Roman" panose="02020603050405020304" pitchFamily="18" charset="0"/>
            </a:endParaRPr>
          </a:p>
          <a:p>
            <a:r>
              <a:rPr lang="en-US" dirty="0"/>
              <a:t>The purpose of this operating system was mainly to transfer control from one job to another as soon as the job was completed. It contained a small set of programs called the </a:t>
            </a:r>
            <a:r>
              <a:rPr lang="en-US" u="sng" dirty="0">
                <a:effectLst>
                  <a:outerShdw blurRad="38100" dist="38100" dir="2700000" algn="tl">
                    <a:srgbClr val="000000">
                      <a:alpha val="43137"/>
                    </a:srgbClr>
                  </a:outerShdw>
                </a:effectLst>
              </a:rPr>
              <a:t>resident monitor </a:t>
            </a:r>
            <a:r>
              <a:rPr lang="en-US" dirty="0"/>
              <a:t>that always resided in one part of the main memory. The remaining part is used for servicing jobs</a:t>
            </a:r>
            <a:endParaRPr lang="en-IN" dirty="0"/>
          </a:p>
        </p:txBody>
      </p:sp>
      <p:pic>
        <p:nvPicPr>
          <p:cNvPr id="4" name="Picture 3" descr="Batch Operating System">
            <a:extLst>
              <a:ext uri="{FF2B5EF4-FFF2-40B4-BE49-F238E27FC236}">
                <a16:creationId xmlns:a16="http://schemas.microsoft.com/office/drawing/2014/main" id="{9BF0FBC4-4C48-E967-A3A2-D4AF49061BBF}"/>
              </a:ext>
            </a:extLst>
          </p:cNvPr>
          <p:cNvPicPr>
            <a:picLocks noChangeAspect="1"/>
          </p:cNvPicPr>
          <p:nvPr/>
        </p:nvPicPr>
        <p:blipFill>
          <a:blip r:embed="rId2"/>
          <a:srcRect/>
          <a:stretch>
            <a:fillRect/>
          </a:stretch>
        </p:blipFill>
        <p:spPr bwMode="auto">
          <a:xfrm>
            <a:off x="6652218" y="591891"/>
            <a:ext cx="4940013" cy="4972114"/>
          </a:xfrm>
          <a:prstGeom prst="rect">
            <a:avLst/>
          </a:prstGeom>
          <a:noFill/>
          <a:ln w="9525">
            <a:noFill/>
            <a:miter lim="800000"/>
            <a:headEnd/>
            <a:tailEnd/>
          </a:ln>
        </p:spPr>
      </p:pic>
    </p:spTree>
    <p:extLst>
      <p:ext uri="{BB962C8B-B14F-4D97-AF65-F5344CB8AC3E}">
        <p14:creationId xmlns:p14="http://schemas.microsoft.com/office/powerpoint/2010/main" val="5286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BBAB72-6189-8AA0-10C3-6B5AB9F5AAAA}"/>
              </a:ext>
            </a:extLst>
          </p:cNvPr>
          <p:cNvSpPr txBox="1"/>
          <p:nvPr/>
        </p:nvSpPr>
        <p:spPr>
          <a:xfrm>
            <a:off x="336755" y="419626"/>
            <a:ext cx="6100916" cy="2039020"/>
          </a:xfrm>
          <a:prstGeom prst="rect">
            <a:avLst/>
          </a:prstGeom>
          <a:noFill/>
        </p:spPr>
        <p:txBody>
          <a:bodyPr wrap="square">
            <a:spAutoFit/>
          </a:bodyPr>
          <a:lstStyle/>
          <a:p>
            <a:pPr algn="just">
              <a:lnSpc>
                <a:spcPts val="1560"/>
              </a:lnSpc>
              <a:spcBef>
                <a:spcPts val="1000"/>
              </a:spcBef>
              <a:buNone/>
            </a:pPr>
            <a:r>
              <a:rPr lang="en-US" i="1"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Batch OS</a:t>
            </a:r>
            <a:endParaRPr lang="en-IN" dirty="0">
              <a:solidFill>
                <a:srgbClr val="00B050"/>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use of a resident monitor improves computer efficiency as it eliminates CPU time between two jobs.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1560"/>
              </a:lnSpc>
              <a:spcBef>
                <a:spcPts val="1000"/>
              </a:spcBef>
              <a:buNone/>
            </a:pPr>
            <a:r>
              <a:rPr lang="en-US" i="1"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Batch OS</a:t>
            </a:r>
            <a:endParaRPr lang="en-IN" dirty="0">
              <a:solidFill>
                <a:schemeClr val="accent1">
                  <a:lumMod val="75000"/>
                </a:schemeClr>
              </a:solidFill>
              <a:effectLst/>
              <a:latin typeface="Cambria" panose="02040503050406030204" pitchFamily="18" charset="0"/>
              <a:ea typeface="Times New Roman" panose="02020603050405020304" pitchFamily="18" charset="0"/>
              <a:cs typeface="Times New Roman" panose="02020603050405020304" pitchFamily="18" charset="0"/>
            </a:endParaRPr>
          </a:p>
          <a:p>
            <a:pPr marL="742950" lvl="1" indent="-285750" algn="just">
              <a:buFont typeface="+mj-lt"/>
              <a:buAutoNum type="alphaLcPeriod"/>
            </a:pPr>
            <a:r>
              <a:rPr lang="en-US" dirty="0">
                <a:solidFill>
                  <a:srgbClr val="000000"/>
                </a:solidFill>
                <a:effectLst/>
                <a:latin typeface="Times New Roman" panose="02020603050405020304" pitchFamily="18" charset="0"/>
                <a:ea typeface="Times New Roman" panose="02020603050405020304" pitchFamily="18" charset="0"/>
              </a:rPr>
              <a:t>Starvation</a:t>
            </a:r>
            <a:endParaRPr lang="en-IN" dirty="0">
              <a:effectLst/>
              <a:latin typeface="Times New Roman" panose="02020603050405020304" pitchFamily="18" charset="0"/>
              <a:ea typeface="Times New Roman" panose="02020603050405020304" pitchFamily="18" charset="0"/>
            </a:endParaRPr>
          </a:p>
          <a:p>
            <a:pPr algn="just">
              <a:buNone/>
            </a:pPr>
            <a:r>
              <a:rPr lang="en-US" dirty="0">
                <a:solidFill>
                  <a:srgbClr val="000000"/>
                </a:solidFill>
                <a:effectLst/>
                <a:latin typeface="Times New Roman" panose="02020603050405020304" pitchFamily="18" charset="0"/>
                <a:ea typeface="Times New Roman" panose="02020603050405020304" pitchFamily="18" charset="0"/>
              </a:rPr>
              <a:t>Batch processing suffers from starvation.</a:t>
            </a:r>
            <a:endParaRPr lang="en-IN" dirty="0">
              <a:effectLst/>
              <a:latin typeface="Times New Roman" panose="02020603050405020304" pitchFamily="18" charset="0"/>
              <a:ea typeface="Times New Roman" panose="02020603050405020304" pitchFamily="18" charset="0"/>
            </a:endParaRPr>
          </a:p>
          <a:p>
            <a:pPr>
              <a:buNone/>
            </a:pPr>
            <a:r>
              <a:rPr lang="en-US" dirty="0">
                <a:effectLst/>
                <a:latin typeface="Calibri" panose="020F0502020204030204" pitchFamily="34" charset="0"/>
                <a:ea typeface="Calibri" panose="020F0502020204030204" pitchFamily="34" charset="0"/>
                <a:cs typeface="Times New Roman" panose="02020603050405020304" pitchFamily="18" charset="0"/>
              </a:rPr>
              <a:t>For Example</a:t>
            </a:r>
            <a:endParaRPr lang="en-IN" dirty="0"/>
          </a:p>
        </p:txBody>
      </p:sp>
      <p:pic>
        <p:nvPicPr>
          <p:cNvPr id="4" name="Picture 3" descr="Batch Operating System">
            <a:extLst>
              <a:ext uri="{FF2B5EF4-FFF2-40B4-BE49-F238E27FC236}">
                <a16:creationId xmlns:a16="http://schemas.microsoft.com/office/drawing/2014/main" id="{1CBF314C-BE6E-4915-012D-F0B9175ACB8E}"/>
              </a:ext>
            </a:extLst>
          </p:cNvPr>
          <p:cNvPicPr>
            <a:picLocks noChangeAspect="1"/>
          </p:cNvPicPr>
          <p:nvPr/>
        </p:nvPicPr>
        <p:blipFill>
          <a:blip r:embed="rId2"/>
          <a:srcRect/>
          <a:stretch>
            <a:fillRect/>
          </a:stretch>
        </p:blipFill>
        <p:spPr bwMode="auto">
          <a:xfrm>
            <a:off x="646533" y="2594886"/>
            <a:ext cx="3387090" cy="2966085"/>
          </a:xfrm>
          <a:prstGeom prst="rect">
            <a:avLst/>
          </a:prstGeom>
          <a:noFill/>
          <a:ln w="9525">
            <a:noFill/>
            <a:miter lim="800000"/>
            <a:headEnd/>
            <a:tailEnd/>
          </a:ln>
        </p:spPr>
      </p:pic>
      <p:sp>
        <p:nvSpPr>
          <p:cNvPr id="6" name="TextBox 5">
            <a:extLst>
              <a:ext uri="{FF2B5EF4-FFF2-40B4-BE49-F238E27FC236}">
                <a16:creationId xmlns:a16="http://schemas.microsoft.com/office/drawing/2014/main" id="{26202CBB-9F2B-F9BA-89C5-73FAAAB4A4D1}"/>
              </a:ext>
            </a:extLst>
          </p:cNvPr>
          <p:cNvSpPr txBox="1"/>
          <p:nvPr/>
        </p:nvSpPr>
        <p:spPr>
          <a:xfrm>
            <a:off x="4033623" y="3878429"/>
            <a:ext cx="6100916" cy="1200329"/>
          </a:xfrm>
          <a:prstGeom prst="rect">
            <a:avLst/>
          </a:prstGeom>
          <a:noFill/>
        </p:spPr>
        <p:txBody>
          <a:bodyPr wrap="square">
            <a:spAutoFit/>
          </a:bodyPr>
          <a:lstStyle/>
          <a:p>
            <a:pPr algn="just">
              <a:buNone/>
            </a:pPr>
            <a:r>
              <a:rPr lang="en-US" sz="1800" dirty="0">
                <a:solidFill>
                  <a:srgbClr val="000000"/>
                </a:solidFill>
                <a:effectLst/>
                <a:latin typeface="Times New Roman" panose="02020603050405020304" pitchFamily="18" charset="0"/>
                <a:ea typeface="Times New Roman" panose="02020603050405020304" pitchFamily="18" charset="0"/>
              </a:rPr>
              <a:t>There are five jobs J1, J2, J3, J4, and J5, present in the batch. If the execution time of J1 is very high, then the other four jobs will never be executed, or they will have to wait for a very long time. Hence the other processes get starved.</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82277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24D497-050B-9408-F02A-2C74CD8DEA95}"/>
              </a:ext>
            </a:extLst>
          </p:cNvPr>
          <p:cNvSpPr txBox="1"/>
          <p:nvPr/>
        </p:nvSpPr>
        <p:spPr>
          <a:xfrm>
            <a:off x="179439" y="391845"/>
            <a:ext cx="6100916" cy="3498394"/>
          </a:xfrm>
          <a:prstGeom prst="rect">
            <a:avLst/>
          </a:prstGeom>
          <a:noFill/>
        </p:spPr>
        <p:txBody>
          <a:bodyPr wrap="square">
            <a:spAutoFit/>
          </a:bodyPr>
          <a:lstStyle/>
          <a:p>
            <a:pPr lvl="1" algn="just"/>
            <a:r>
              <a:rPr lang="en-US" sz="1600" b="1" dirty="0">
                <a:solidFill>
                  <a:srgbClr val="000000"/>
                </a:solidFill>
                <a:effectLst/>
                <a:latin typeface="Times New Roman" panose="02020603050405020304" pitchFamily="18" charset="0"/>
                <a:ea typeface="Times New Roman" panose="02020603050405020304" pitchFamily="18" charset="0"/>
              </a:rPr>
              <a:t>B. 	Not Interactive</a:t>
            </a:r>
            <a:endParaRPr lang="en-IN" sz="1600" dirty="0">
              <a:effectLst/>
              <a:latin typeface="Times New Roman" panose="02020603050405020304" pitchFamily="18" charset="0"/>
              <a:ea typeface="Times New Roman" panose="02020603050405020304" pitchFamily="18" charset="0"/>
            </a:endParaRPr>
          </a:p>
          <a:p>
            <a:pPr algn="just">
              <a:buNone/>
            </a:pPr>
            <a:r>
              <a:rPr lang="en-US" sz="1600" dirty="0">
                <a:solidFill>
                  <a:srgbClr val="000000"/>
                </a:solidFill>
                <a:effectLst/>
                <a:latin typeface="Times New Roman" panose="02020603050405020304" pitchFamily="18" charset="0"/>
                <a:ea typeface="Times New Roman" panose="02020603050405020304" pitchFamily="18" charset="0"/>
              </a:rPr>
              <a:t>Batch Processing is not suitable for jobs that are dependent on the user's input. If a job requires the input of two numbers from the console, then it will never get it in the batch processing scenario since the user is not present at the time of execution.</a:t>
            </a:r>
          </a:p>
          <a:p>
            <a:pPr algn="just">
              <a:buNone/>
            </a:pPr>
            <a:endParaRPr lang="en-IN" sz="1600" dirty="0">
              <a:effectLst/>
              <a:latin typeface="Times New Roman" panose="02020603050405020304" pitchFamily="18" charset="0"/>
              <a:ea typeface="Times New Roman" panose="02020603050405020304" pitchFamily="18" charset="0"/>
            </a:endParaRPr>
          </a:p>
          <a:p>
            <a:pPr marL="1257300" lvl="2" indent="-342900" algn="just">
              <a:lnSpc>
                <a:spcPts val="1560"/>
              </a:lnSpc>
              <a:buFont typeface="+mj-lt"/>
              <a:buAutoNum type="arabicPeriod" startAt="2"/>
            </a:pPr>
            <a:r>
              <a:rPr lang="en-US" sz="2000" b="1" i="1" u="sng" dirty="0">
                <a:solidFill>
                  <a:srgbClr val="000000"/>
                </a:solidFill>
                <a:effectLst/>
                <a:latin typeface="Times New Roman" panose="02020603050405020304" pitchFamily="18" charset="0"/>
                <a:ea typeface="Times New Roman" panose="02020603050405020304" pitchFamily="18" charset="0"/>
              </a:rPr>
              <a:t>Multiprogramming Operating System</a:t>
            </a:r>
            <a:endParaRPr lang="en-IN" sz="2000" b="1" dirty="0">
              <a:effectLst/>
              <a:latin typeface="Times New Roman" panose="02020603050405020304" pitchFamily="18" charset="0"/>
              <a:ea typeface="Times New Roman" panose="02020603050405020304" pitchFamily="18" charset="0"/>
            </a:endParaRPr>
          </a:p>
          <a:p>
            <a:pPr algn="just">
              <a:buNone/>
            </a:pPr>
            <a:endParaRPr lang="en-US" sz="1600" dirty="0">
              <a:solidFill>
                <a:srgbClr val="000000"/>
              </a:solidFill>
              <a:effectLst/>
              <a:latin typeface="Times New Roman" panose="02020603050405020304" pitchFamily="18" charset="0"/>
              <a:ea typeface="Times New Roman" panose="02020603050405020304" pitchFamily="18" charset="0"/>
            </a:endParaRPr>
          </a:p>
          <a:p>
            <a:pPr algn="just">
              <a:buNone/>
            </a:pPr>
            <a:r>
              <a:rPr lang="en-US" sz="1600" dirty="0">
                <a:solidFill>
                  <a:srgbClr val="000000"/>
                </a:solidFill>
                <a:effectLst/>
                <a:latin typeface="Times New Roman" panose="02020603050405020304" pitchFamily="18" charset="0"/>
                <a:ea typeface="Times New Roman" panose="02020603050405020304" pitchFamily="18" charset="0"/>
              </a:rPr>
              <a:t>Multiprogramming is an extension to batch processing where the CPU is always kept busy. Each process needs two types of system time: CPU time and IO time.</a:t>
            </a:r>
            <a:endParaRPr lang="en-IN" sz="1600" dirty="0">
              <a:effectLst/>
              <a:latin typeface="Times New Roman" panose="02020603050405020304" pitchFamily="18" charset="0"/>
              <a:ea typeface="Times New Roman" panose="02020603050405020304" pitchFamily="18" charset="0"/>
            </a:endParaRPr>
          </a:p>
          <a:p>
            <a:pPr algn="just">
              <a:buNone/>
            </a:pPr>
            <a:r>
              <a:rPr lang="en-US" sz="1600" dirty="0">
                <a:solidFill>
                  <a:srgbClr val="000000"/>
                </a:solidFill>
                <a:effectLst/>
                <a:latin typeface="Times New Roman" panose="02020603050405020304" pitchFamily="18" charset="0"/>
                <a:ea typeface="Times New Roman" panose="02020603050405020304" pitchFamily="18" charset="0"/>
              </a:rPr>
              <a:t>In a multiprogramming environment, when a process does its I/O, The CPU can start the execution of other processes. Therefore, multiprogramming improves the efficiency of the system.</a:t>
            </a:r>
            <a:endParaRPr lang="en-IN" sz="1600" dirty="0">
              <a:effectLst/>
              <a:latin typeface="Times New Roman" panose="02020603050405020304" pitchFamily="18" charset="0"/>
              <a:ea typeface="Times New Roman" panose="02020603050405020304" pitchFamily="18" charset="0"/>
            </a:endParaRPr>
          </a:p>
        </p:txBody>
      </p:sp>
      <p:pic>
        <p:nvPicPr>
          <p:cNvPr id="4" name="Picture 3" descr="Multiprocessing Operating System">
            <a:extLst>
              <a:ext uri="{FF2B5EF4-FFF2-40B4-BE49-F238E27FC236}">
                <a16:creationId xmlns:a16="http://schemas.microsoft.com/office/drawing/2014/main" id="{C5A0AF3A-EDCF-0F3F-2FAC-C410EDE3E480}"/>
              </a:ext>
            </a:extLst>
          </p:cNvPr>
          <p:cNvPicPr>
            <a:picLocks noChangeAspect="1"/>
          </p:cNvPicPr>
          <p:nvPr/>
        </p:nvPicPr>
        <p:blipFill>
          <a:blip r:embed="rId2"/>
          <a:srcRect/>
          <a:stretch>
            <a:fillRect/>
          </a:stretch>
        </p:blipFill>
        <p:spPr bwMode="auto">
          <a:xfrm>
            <a:off x="6280355" y="471399"/>
            <a:ext cx="5240020" cy="3418840"/>
          </a:xfrm>
          <a:prstGeom prst="rect">
            <a:avLst/>
          </a:prstGeom>
          <a:noFill/>
          <a:ln w="9525">
            <a:noFill/>
            <a:miter lim="800000"/>
            <a:headEnd/>
            <a:tailEnd/>
          </a:ln>
        </p:spPr>
      </p:pic>
      <p:sp>
        <p:nvSpPr>
          <p:cNvPr id="6" name="TextBox 5">
            <a:extLst>
              <a:ext uri="{FF2B5EF4-FFF2-40B4-BE49-F238E27FC236}">
                <a16:creationId xmlns:a16="http://schemas.microsoft.com/office/drawing/2014/main" id="{053398B3-C994-65C8-3B97-EC93A8096E44}"/>
              </a:ext>
            </a:extLst>
          </p:cNvPr>
          <p:cNvSpPr txBox="1"/>
          <p:nvPr/>
        </p:nvSpPr>
        <p:spPr>
          <a:xfrm>
            <a:off x="0" y="4214703"/>
            <a:ext cx="9367685" cy="1928733"/>
          </a:xfrm>
          <a:prstGeom prst="rect">
            <a:avLst/>
          </a:prstGeom>
          <a:noFill/>
        </p:spPr>
        <p:txBody>
          <a:bodyPr wrap="square">
            <a:spAutoFit/>
          </a:bodyPr>
          <a:lstStyle/>
          <a:p>
            <a:pPr algn="just">
              <a:lnSpc>
                <a:spcPts val="1560"/>
              </a:lnSpc>
              <a:spcBef>
                <a:spcPts val="1000"/>
              </a:spcBef>
              <a:buNone/>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Multiprogramming OS</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Throughout the system, it increased as the CPU always had one program to execute.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Response time can also be reduced.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1560"/>
              </a:lnSpc>
              <a:spcBef>
                <a:spcPts val="1000"/>
              </a:spcBef>
              <a:buNone/>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Multiprogramming OS</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a:buNone/>
            </a:pPr>
            <a:r>
              <a:rPr lang="en-US" sz="1800" dirty="0">
                <a:effectLst/>
                <a:latin typeface="Times New Roman" panose="02020603050405020304" pitchFamily="18" charset="0"/>
                <a:ea typeface="Calibri" panose="020F0502020204030204" pitchFamily="34" charset="0"/>
              </a:rPr>
              <a:t>Multiprogramming systems provide an environment in which various systems resources are used efficiently, but they do not provide any user interaction with the computer system</a:t>
            </a:r>
            <a:endParaRPr lang="en-IN" dirty="0"/>
          </a:p>
        </p:txBody>
      </p:sp>
    </p:spTree>
    <p:extLst>
      <p:ext uri="{BB962C8B-B14F-4D97-AF65-F5344CB8AC3E}">
        <p14:creationId xmlns:p14="http://schemas.microsoft.com/office/powerpoint/2010/main" val="3932846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7D8678-F8EA-F80D-BB42-53E3561DFFB6}"/>
              </a:ext>
            </a:extLst>
          </p:cNvPr>
          <p:cNvSpPr txBox="1"/>
          <p:nvPr/>
        </p:nvSpPr>
        <p:spPr>
          <a:xfrm>
            <a:off x="159774" y="188804"/>
            <a:ext cx="6100916" cy="2294795"/>
          </a:xfrm>
          <a:prstGeom prst="rect">
            <a:avLst/>
          </a:prstGeom>
          <a:noFill/>
        </p:spPr>
        <p:txBody>
          <a:bodyPr wrap="square">
            <a:spAutoFit/>
          </a:bodyPr>
          <a:lstStyle/>
          <a:p>
            <a:pPr marL="342900" lvl="0" indent="-342900" algn="just">
              <a:lnSpc>
                <a:spcPct val="115000"/>
              </a:lnSpc>
              <a:spcAft>
                <a:spcPts val="1000"/>
              </a:spcAft>
              <a:buFont typeface="+mj-lt"/>
              <a:buAutoNum type="arabicPeriod" startAt="3"/>
            </a:pPr>
            <a:r>
              <a:rPr lang="en-US" sz="2400" b="1" i="1" u="sng" dirty="0">
                <a:effectLst/>
                <a:latin typeface="Times New Roman" panose="02020603050405020304" pitchFamily="18" charset="0"/>
                <a:ea typeface="Times New Roman" panose="02020603050405020304" pitchFamily="18" charset="0"/>
                <a:cs typeface="Times New Roman" panose="02020603050405020304" pitchFamily="18" charset="0"/>
              </a:rPr>
              <a:t>Time-sharing operating systems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600"/>
              </a:spcBef>
              <a:spcAft>
                <a:spcPts val="72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Time-sharing is a technique which enables many people, located at various terminals, to use a particular computer system at the same time. Time-sharing or multitasking is a logical extension of multiprogramming. Processor's time which is shared among multiple users simultaneously is termed as time-sharing.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70F3108-15A3-BAF7-18E8-249CA7CF87EB}"/>
              </a:ext>
            </a:extLst>
          </p:cNvPr>
          <p:cNvSpPr txBox="1"/>
          <p:nvPr/>
        </p:nvSpPr>
        <p:spPr>
          <a:xfrm>
            <a:off x="90947" y="2380266"/>
            <a:ext cx="11589775" cy="3735399"/>
          </a:xfrm>
          <a:prstGeom prst="rect">
            <a:avLst/>
          </a:prstGeom>
          <a:noFill/>
        </p:spPr>
        <p:txBody>
          <a:bodyPr wrap="square">
            <a:spAutoFit/>
          </a:bodyPr>
          <a:lstStyle/>
          <a:p>
            <a:pPr algn="just">
              <a:lnSpc>
                <a:spcPct val="115000"/>
              </a:lnSpc>
              <a:spcBef>
                <a:spcPts val="600"/>
              </a:spcBef>
              <a:spcAft>
                <a:spcPts val="72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operating system uses CPU scheduling and multiprogramming to provide each user with a small portion of a time. Computer systems that were designed primarily as batch systems have been modified to time-sharing systems.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600"/>
              </a:spcBef>
              <a:spcAft>
                <a:spcPts val="720"/>
              </a:spcAft>
              <a:buNone/>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Advantages of Timesharing operating systems are as follows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Provides the advantage of quick response.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Avoids duplication of software.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Reduces CPU idle time.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600"/>
              </a:spcBef>
              <a:spcAft>
                <a:spcPts val="720"/>
              </a:spcAft>
              <a:buNone/>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Disadvantages of Time-sharing operating systems are as follows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Problem of reliability.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Question of security and integrity of user programs and data.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1800" dirty="0">
                <a:effectLst/>
                <a:latin typeface="Times New Roman" panose="02020603050405020304" pitchFamily="18" charset="0"/>
                <a:ea typeface="Times New Roman" panose="02020603050405020304" pitchFamily="18" charset="0"/>
              </a:rPr>
              <a:t>Problem of data communication</a:t>
            </a:r>
            <a:endParaRPr lang="en-IN" dirty="0"/>
          </a:p>
        </p:txBody>
      </p:sp>
    </p:spTree>
    <p:extLst>
      <p:ext uri="{BB962C8B-B14F-4D97-AF65-F5344CB8AC3E}">
        <p14:creationId xmlns:p14="http://schemas.microsoft.com/office/powerpoint/2010/main" val="4268336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E1BC7E9-8A84-4B8D-0196-05F375327FD8}"/>
              </a:ext>
            </a:extLst>
          </p:cNvPr>
          <p:cNvSpPr>
            <a:spLocks noChangeArrowheads="1"/>
          </p:cNvSpPr>
          <p:nvPr/>
        </p:nvSpPr>
        <p:spPr bwMode="auto">
          <a:xfrm rot="10800000">
            <a:off x="-521111" y="-2202146"/>
            <a:ext cx="6685937"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1" u="sng" strike="noStrike" cap="none" normalizeH="0" baseline="0">
                <a:ln>
                  <a:noFill/>
                </a:ln>
                <a:solidFill>
                  <a:srgbClr val="000000"/>
                </a:solidFill>
                <a:effectLst/>
                <a:latin typeface="Arial" panose="020B0604020202020204" pitchFamily="34" charset="0"/>
                <a:ea typeface="Times New Roman" panose="02020603050405020304" pitchFamily="18" charset="0"/>
              </a:rPr>
              <a:t>Multiprocessing Operating System</a:t>
            </a:r>
            <a:endParaRPr kumimoji="0" lang="en-US" altLang="en-US" sz="1800" b="1" i="0" u="none"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In Multiprocessing, Parallel computing is achieved. There are more than one processors present in the system which can execute more than one process at the same time. This will increase the throughput of the system.</a:t>
            </a:r>
            <a:endPar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3B92D30-9DE2-C783-F854-826A16DA505A}"/>
              </a:ext>
            </a:extLst>
          </p:cNvPr>
          <p:cNvSpPr txBox="1"/>
          <p:nvPr/>
        </p:nvSpPr>
        <p:spPr>
          <a:xfrm>
            <a:off x="0" y="255888"/>
            <a:ext cx="6381134" cy="1405513"/>
          </a:xfrm>
          <a:prstGeom prst="rect">
            <a:avLst/>
          </a:prstGeom>
          <a:noFill/>
        </p:spPr>
        <p:txBody>
          <a:bodyPr wrap="square">
            <a:spAutoFit/>
          </a:bodyPr>
          <a:lstStyle/>
          <a:p>
            <a:pPr lvl="0" algn="just">
              <a:lnSpc>
                <a:spcPts val="1560"/>
              </a:lnSpc>
            </a:pPr>
            <a:r>
              <a:rPr lang="en-US" sz="2000" b="1" i="1" u="sng" dirty="0">
                <a:solidFill>
                  <a:srgbClr val="000000"/>
                </a:solidFill>
                <a:effectLst/>
                <a:latin typeface="Times New Roman" panose="02020603050405020304" pitchFamily="18" charset="0"/>
                <a:ea typeface="Times New Roman" panose="02020603050405020304" pitchFamily="18" charset="0"/>
              </a:rPr>
              <a:t>4.	Multiprocessing Operating System</a:t>
            </a:r>
            <a:endParaRPr lang="en-IN" sz="3200" b="1" dirty="0">
              <a:effectLst/>
              <a:latin typeface="Times New Roman" panose="02020603050405020304" pitchFamily="18" charset="0"/>
              <a:ea typeface="Times New Roman" panose="02020603050405020304" pitchFamily="18" charset="0"/>
            </a:endParaRPr>
          </a:p>
          <a:p>
            <a:pPr>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In Multiprocessing, Parallel computing is achieved. There are more than one processors present in the system which can execute more than one process at the same time. This will increase the throughput of the system</a:t>
            </a:r>
            <a:endParaRPr lang="en-IN" dirty="0"/>
          </a:p>
        </p:txBody>
      </p:sp>
      <p:pic>
        <p:nvPicPr>
          <p:cNvPr id="6" name="Picture 5" descr="Multiprocessing Operating System">
            <a:extLst>
              <a:ext uri="{FF2B5EF4-FFF2-40B4-BE49-F238E27FC236}">
                <a16:creationId xmlns:a16="http://schemas.microsoft.com/office/drawing/2014/main" id="{DD98E321-B5AF-9D6E-65F7-2F541AC1E2D5}"/>
              </a:ext>
            </a:extLst>
          </p:cNvPr>
          <p:cNvPicPr>
            <a:picLocks noChangeAspect="1"/>
          </p:cNvPicPr>
          <p:nvPr/>
        </p:nvPicPr>
        <p:blipFill>
          <a:blip r:embed="rId2"/>
          <a:srcRect/>
          <a:stretch>
            <a:fillRect/>
          </a:stretch>
        </p:blipFill>
        <p:spPr bwMode="auto">
          <a:xfrm>
            <a:off x="2595715" y="1536333"/>
            <a:ext cx="5184140" cy="2950210"/>
          </a:xfrm>
          <a:prstGeom prst="rect">
            <a:avLst/>
          </a:prstGeom>
          <a:noFill/>
          <a:ln w="9525">
            <a:noFill/>
            <a:miter lim="800000"/>
            <a:headEnd/>
            <a:tailEnd/>
          </a:ln>
        </p:spPr>
      </p:pic>
      <p:sp>
        <p:nvSpPr>
          <p:cNvPr id="8" name="TextBox 7">
            <a:extLst>
              <a:ext uri="{FF2B5EF4-FFF2-40B4-BE49-F238E27FC236}">
                <a16:creationId xmlns:a16="http://schemas.microsoft.com/office/drawing/2014/main" id="{7D992D4F-077E-8E5D-EDC0-225AA89C3B47}"/>
              </a:ext>
            </a:extLst>
          </p:cNvPr>
          <p:cNvSpPr txBox="1"/>
          <p:nvPr/>
        </p:nvSpPr>
        <p:spPr>
          <a:xfrm>
            <a:off x="162232" y="4704339"/>
            <a:ext cx="6381134" cy="1200329"/>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In Multiprocessing, Parallel computing is achieved. More than one processor present in the system can execute more than one process simultaneously, which will increase the throughput of the system</a:t>
            </a:r>
            <a:endParaRPr lang="en-IN" dirty="0"/>
          </a:p>
        </p:txBody>
      </p:sp>
    </p:spTree>
    <p:extLst>
      <p:ext uri="{BB962C8B-B14F-4D97-AF65-F5344CB8AC3E}">
        <p14:creationId xmlns:p14="http://schemas.microsoft.com/office/powerpoint/2010/main" val="2542415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D28E9E-41F9-ABBE-4409-0BD51B2CC8B8}"/>
              </a:ext>
            </a:extLst>
          </p:cNvPr>
          <p:cNvSpPr txBox="1"/>
          <p:nvPr/>
        </p:nvSpPr>
        <p:spPr>
          <a:xfrm>
            <a:off x="376084" y="528103"/>
            <a:ext cx="6100916" cy="4700582"/>
          </a:xfrm>
          <a:prstGeom prst="rect">
            <a:avLst/>
          </a:prstGeom>
          <a:noFill/>
        </p:spPr>
        <p:txBody>
          <a:bodyPr wrap="square">
            <a:spAutoFit/>
          </a:bodyPr>
          <a:lstStyle/>
          <a:p>
            <a:pPr>
              <a:lnSpc>
                <a:spcPct val="115000"/>
              </a:lnSpc>
              <a:spcAft>
                <a:spcPts val="1000"/>
              </a:spcAft>
              <a:buNone/>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Types of  Multiprocessing OS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Courier New" panose="02070309020205020404" pitchFamily="49" charset="0"/>
              <a:buChar char="o"/>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Asymmetric Multiprocessing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15875" marR="15875" algn="just">
              <a:lnSpc>
                <a:spcPct val="115000"/>
              </a:lnSpc>
              <a:spcBef>
                <a:spcPts val="125"/>
              </a:spcBef>
              <a:spcAft>
                <a:spcPts val="625"/>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Asymmetric multiprocessing is the use of two or more processors handled by one master processor. All CPUs are interconnected but are not self-scheduling. AMP is used to schedule specific task to CPU based on priority and importance of task.</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Courier New" panose="02070309020205020404" pitchFamily="49" charset="0"/>
              <a:buChar char="o"/>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Symmetric Multiprocessing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15875" marR="15875" algn="just">
              <a:lnSpc>
                <a:spcPct val="115000"/>
              </a:lnSpc>
              <a:spcBef>
                <a:spcPts val="125"/>
              </a:spcBef>
              <a:spcAft>
                <a:spcPts val="625"/>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Symmetric multiprocessing is the use of two or more self-scheduling processors sharing a common memory space. Each processor has access to I/O and memory devices. SMP applies multiple CPUs to a task to complete in parallel and faster fashion.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326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35CE30E-44D7-E2E1-A158-CAC9840E5A19}"/>
              </a:ext>
            </a:extLst>
          </p:cNvPr>
          <p:cNvGraphicFramePr>
            <a:graphicFrameLocks/>
          </p:cNvGraphicFramePr>
          <p:nvPr>
            <p:extLst>
              <p:ext uri="{D42A27DB-BD31-4B8C-83A1-F6EECF244321}">
                <p14:modId xmlns:p14="http://schemas.microsoft.com/office/powerpoint/2010/main" val="2675826449"/>
              </p:ext>
            </p:extLst>
          </p:nvPr>
        </p:nvGraphicFramePr>
        <p:xfrm>
          <a:off x="993059" y="717754"/>
          <a:ext cx="9364515" cy="5319251"/>
        </p:xfrm>
        <a:graphic>
          <a:graphicData uri="http://schemas.openxmlformats.org/drawingml/2006/table">
            <a:tbl>
              <a:tblPr firstRow="1" firstCol="1" bandRow="1">
                <a:tableStyleId>{5C22544A-7EE6-4342-B048-85BDC9FD1C3A}</a:tableStyleId>
              </a:tblPr>
              <a:tblGrid>
                <a:gridCol w="807789">
                  <a:extLst>
                    <a:ext uri="{9D8B030D-6E8A-4147-A177-3AD203B41FA5}">
                      <a16:colId xmlns:a16="http://schemas.microsoft.com/office/drawing/2014/main" val="2798669674"/>
                    </a:ext>
                  </a:extLst>
                </a:gridCol>
                <a:gridCol w="2072284">
                  <a:extLst>
                    <a:ext uri="{9D8B030D-6E8A-4147-A177-3AD203B41FA5}">
                      <a16:colId xmlns:a16="http://schemas.microsoft.com/office/drawing/2014/main" val="1372685210"/>
                    </a:ext>
                  </a:extLst>
                </a:gridCol>
                <a:gridCol w="3242221">
                  <a:extLst>
                    <a:ext uri="{9D8B030D-6E8A-4147-A177-3AD203B41FA5}">
                      <a16:colId xmlns:a16="http://schemas.microsoft.com/office/drawing/2014/main" val="778939016"/>
                    </a:ext>
                  </a:extLst>
                </a:gridCol>
                <a:gridCol w="3242221">
                  <a:extLst>
                    <a:ext uri="{9D8B030D-6E8A-4147-A177-3AD203B41FA5}">
                      <a16:colId xmlns:a16="http://schemas.microsoft.com/office/drawing/2014/main" val="3923218183"/>
                    </a:ext>
                  </a:extLst>
                </a:gridCol>
              </a:tblGrid>
              <a:tr h="694006">
                <a:tc>
                  <a:txBody>
                    <a:bodyPr/>
                    <a:lstStyle/>
                    <a:p>
                      <a:pPr algn="ctr">
                        <a:lnSpc>
                          <a:spcPct val="115000"/>
                        </a:lnSpc>
                        <a:spcAft>
                          <a:spcPts val="1000"/>
                        </a:spcAft>
                        <a:buNone/>
                      </a:pPr>
                      <a:r>
                        <a:rPr lang="en-US" sz="800">
                          <a:effectLst/>
                        </a:rPr>
                        <a:t>Sr. No.</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gn="ctr">
                        <a:lnSpc>
                          <a:spcPct val="115000"/>
                        </a:lnSpc>
                        <a:spcAft>
                          <a:spcPts val="1000"/>
                        </a:spcAft>
                        <a:buNone/>
                      </a:pPr>
                      <a:r>
                        <a:rPr lang="en-US" sz="800">
                          <a:effectLst/>
                        </a:rPr>
                        <a:t>Key</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gn="ctr">
                        <a:lnSpc>
                          <a:spcPct val="115000"/>
                        </a:lnSpc>
                        <a:spcAft>
                          <a:spcPts val="1000"/>
                        </a:spcAft>
                        <a:buNone/>
                      </a:pPr>
                      <a:r>
                        <a:rPr lang="en-US" sz="800">
                          <a:effectLst/>
                        </a:rPr>
                        <a:t>Asymmetric Multiprocessing</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gn="ctr">
                        <a:lnSpc>
                          <a:spcPct val="115000"/>
                        </a:lnSpc>
                        <a:spcAft>
                          <a:spcPts val="1000"/>
                        </a:spcAft>
                        <a:buNone/>
                      </a:pPr>
                      <a:r>
                        <a:rPr lang="en-US" sz="800">
                          <a:effectLst/>
                        </a:rPr>
                        <a:t>Symmetric Multiprocessing</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extLst>
                  <a:ext uri="{0D108BD9-81ED-4DB2-BD59-A6C34878D82A}">
                    <a16:rowId xmlns:a16="http://schemas.microsoft.com/office/drawing/2014/main" val="2040799363"/>
                  </a:ext>
                </a:extLst>
              </a:tr>
              <a:tr h="694006">
                <a:tc>
                  <a:txBody>
                    <a:bodyPr/>
                    <a:lstStyle/>
                    <a:p>
                      <a:pPr algn="ctr">
                        <a:lnSpc>
                          <a:spcPct val="115000"/>
                        </a:lnSpc>
                        <a:spcAft>
                          <a:spcPts val="1000"/>
                        </a:spcAft>
                        <a:buNone/>
                      </a:pPr>
                      <a:r>
                        <a:rPr lang="en-US" sz="800">
                          <a:effectLst/>
                        </a:rPr>
                        <a:t>1</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nchor="ctr"/>
                </a:tc>
                <a:tc>
                  <a:txBody>
                    <a:bodyPr/>
                    <a:lstStyle/>
                    <a:p>
                      <a:pPr>
                        <a:lnSpc>
                          <a:spcPct val="115000"/>
                        </a:lnSpc>
                        <a:spcAft>
                          <a:spcPts val="1000"/>
                        </a:spcAft>
                        <a:buNone/>
                      </a:pPr>
                      <a:r>
                        <a:rPr lang="en-US" sz="800">
                          <a:effectLst/>
                        </a:rPr>
                        <a:t>CPU</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All processors are not equal in precedence.</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All processors are same in precedence.</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extLst>
                  <a:ext uri="{0D108BD9-81ED-4DB2-BD59-A6C34878D82A}">
                    <a16:rowId xmlns:a16="http://schemas.microsoft.com/office/drawing/2014/main" val="132753628"/>
                  </a:ext>
                </a:extLst>
              </a:tr>
              <a:tr h="694006">
                <a:tc>
                  <a:txBody>
                    <a:bodyPr/>
                    <a:lstStyle/>
                    <a:p>
                      <a:pPr algn="ctr">
                        <a:lnSpc>
                          <a:spcPct val="115000"/>
                        </a:lnSpc>
                        <a:spcAft>
                          <a:spcPts val="1000"/>
                        </a:spcAft>
                        <a:buNone/>
                      </a:pPr>
                      <a:r>
                        <a:rPr lang="en-US" sz="800">
                          <a:effectLst/>
                        </a:rPr>
                        <a:t>2</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nchor="ctr"/>
                </a:tc>
                <a:tc>
                  <a:txBody>
                    <a:bodyPr/>
                    <a:lstStyle/>
                    <a:p>
                      <a:pPr>
                        <a:lnSpc>
                          <a:spcPct val="115000"/>
                        </a:lnSpc>
                        <a:spcAft>
                          <a:spcPts val="1000"/>
                        </a:spcAft>
                        <a:buNone/>
                      </a:pPr>
                      <a:r>
                        <a:rPr lang="en-US" sz="800">
                          <a:effectLst/>
                        </a:rPr>
                        <a:t>OS Task</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OS task is done by master processor.</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OS task can be done by any processor.</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extLst>
                  <a:ext uri="{0D108BD9-81ED-4DB2-BD59-A6C34878D82A}">
                    <a16:rowId xmlns:a16="http://schemas.microsoft.com/office/drawing/2014/main" val="1661565615"/>
                  </a:ext>
                </a:extLst>
              </a:tr>
              <a:tr h="1155215">
                <a:tc>
                  <a:txBody>
                    <a:bodyPr/>
                    <a:lstStyle/>
                    <a:p>
                      <a:pPr algn="ctr">
                        <a:lnSpc>
                          <a:spcPct val="115000"/>
                        </a:lnSpc>
                        <a:spcAft>
                          <a:spcPts val="1000"/>
                        </a:spcAft>
                        <a:buNone/>
                      </a:pPr>
                      <a:r>
                        <a:rPr lang="en-US" sz="800">
                          <a:effectLst/>
                        </a:rPr>
                        <a:t>3</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nchor="ctr"/>
                </a:tc>
                <a:tc>
                  <a:txBody>
                    <a:bodyPr/>
                    <a:lstStyle/>
                    <a:p>
                      <a:pPr>
                        <a:lnSpc>
                          <a:spcPct val="115000"/>
                        </a:lnSpc>
                        <a:spcAft>
                          <a:spcPts val="1000"/>
                        </a:spcAft>
                        <a:buNone/>
                      </a:pPr>
                      <a:r>
                        <a:rPr lang="en-US" sz="800">
                          <a:effectLst/>
                        </a:rPr>
                        <a:t>Communication Overhead</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dirty="0">
                          <a:effectLst/>
                        </a:rPr>
                        <a:t>No communication overhead between processors as they are controlled by master processor.</a:t>
                      </a:r>
                      <a:endParaRPr lang="en-IN"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dirty="0">
                          <a:effectLst/>
                        </a:rPr>
                        <a:t>All processor communicates to each other using shared memory.</a:t>
                      </a:r>
                      <a:endParaRPr lang="en-IN"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extLst>
                  <a:ext uri="{0D108BD9-81ED-4DB2-BD59-A6C34878D82A}">
                    <a16:rowId xmlns:a16="http://schemas.microsoft.com/office/drawing/2014/main" val="4170612325"/>
                  </a:ext>
                </a:extLst>
              </a:tr>
              <a:tr h="694006">
                <a:tc>
                  <a:txBody>
                    <a:bodyPr/>
                    <a:lstStyle/>
                    <a:p>
                      <a:pPr algn="ctr">
                        <a:lnSpc>
                          <a:spcPct val="115000"/>
                        </a:lnSpc>
                        <a:spcAft>
                          <a:spcPts val="1000"/>
                        </a:spcAft>
                        <a:buNone/>
                      </a:pPr>
                      <a:r>
                        <a:rPr lang="en-US" sz="800">
                          <a:effectLst/>
                        </a:rPr>
                        <a:t>4</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nchor="ctr"/>
                </a:tc>
                <a:tc>
                  <a:txBody>
                    <a:bodyPr/>
                    <a:lstStyle/>
                    <a:p>
                      <a:pPr>
                        <a:lnSpc>
                          <a:spcPct val="115000"/>
                        </a:lnSpc>
                        <a:spcAft>
                          <a:spcPts val="1000"/>
                        </a:spcAft>
                        <a:buNone/>
                      </a:pPr>
                      <a:r>
                        <a:rPr lang="en-US" sz="800">
                          <a:effectLst/>
                        </a:rPr>
                        <a:t>Process Scheduling</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Master-Slave approach is used.</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A ready queue of processes is used.</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extLst>
                  <a:ext uri="{0D108BD9-81ED-4DB2-BD59-A6C34878D82A}">
                    <a16:rowId xmlns:a16="http://schemas.microsoft.com/office/drawing/2014/main" val="492354960"/>
                  </a:ext>
                </a:extLst>
              </a:tr>
              <a:tr h="694006">
                <a:tc>
                  <a:txBody>
                    <a:bodyPr/>
                    <a:lstStyle/>
                    <a:p>
                      <a:pPr algn="ctr">
                        <a:lnSpc>
                          <a:spcPct val="115000"/>
                        </a:lnSpc>
                        <a:spcAft>
                          <a:spcPts val="1000"/>
                        </a:spcAft>
                        <a:buNone/>
                      </a:pPr>
                      <a:r>
                        <a:rPr lang="en-US" sz="800">
                          <a:effectLst/>
                        </a:rPr>
                        <a:t>5</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nchor="ctr"/>
                </a:tc>
                <a:tc>
                  <a:txBody>
                    <a:bodyPr/>
                    <a:lstStyle/>
                    <a:p>
                      <a:pPr>
                        <a:lnSpc>
                          <a:spcPct val="115000"/>
                        </a:lnSpc>
                        <a:spcAft>
                          <a:spcPts val="1000"/>
                        </a:spcAft>
                        <a:buNone/>
                      </a:pPr>
                      <a:r>
                        <a:rPr lang="en-US" sz="800">
                          <a:effectLst/>
                        </a:rPr>
                        <a:t>Cost</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Asymmetric multiprocessing is cheaper to implement.</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Symmetric multiprocessing is costlier to implement.</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extLst>
                  <a:ext uri="{0D108BD9-81ED-4DB2-BD59-A6C34878D82A}">
                    <a16:rowId xmlns:a16="http://schemas.microsoft.com/office/drawing/2014/main" val="391035690"/>
                  </a:ext>
                </a:extLst>
              </a:tr>
              <a:tr h="694006">
                <a:tc>
                  <a:txBody>
                    <a:bodyPr/>
                    <a:lstStyle/>
                    <a:p>
                      <a:pPr algn="ctr">
                        <a:lnSpc>
                          <a:spcPct val="115000"/>
                        </a:lnSpc>
                        <a:spcAft>
                          <a:spcPts val="1000"/>
                        </a:spcAft>
                        <a:buNone/>
                      </a:pPr>
                      <a:r>
                        <a:rPr lang="en-US" sz="800">
                          <a:effectLst/>
                        </a:rPr>
                        <a:t>6</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nchor="ctr"/>
                </a:tc>
                <a:tc>
                  <a:txBody>
                    <a:bodyPr/>
                    <a:lstStyle/>
                    <a:p>
                      <a:pPr>
                        <a:lnSpc>
                          <a:spcPct val="115000"/>
                        </a:lnSpc>
                        <a:spcAft>
                          <a:spcPts val="1000"/>
                        </a:spcAft>
                        <a:buNone/>
                      </a:pPr>
                      <a:r>
                        <a:rPr lang="en-US" sz="800">
                          <a:effectLst/>
                        </a:rPr>
                        <a:t>Design Complexity</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a:effectLst/>
                        </a:rPr>
                        <a:t>Asymmetric multiprocessing is simpler to design.</a:t>
                      </a:r>
                      <a:endParaRPr lang="en-IN" sz="70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tc>
                  <a:txBody>
                    <a:bodyPr/>
                    <a:lstStyle/>
                    <a:p>
                      <a:pPr>
                        <a:lnSpc>
                          <a:spcPct val="115000"/>
                        </a:lnSpc>
                        <a:spcAft>
                          <a:spcPts val="1000"/>
                        </a:spcAft>
                        <a:buNone/>
                      </a:pPr>
                      <a:r>
                        <a:rPr lang="en-US" sz="800" dirty="0">
                          <a:effectLst/>
                        </a:rPr>
                        <a:t>Symmetric multiprocessing is complex to design.</a:t>
                      </a:r>
                      <a:endParaRPr lang="en-IN" sz="700" dirty="0">
                        <a:effectLst/>
                        <a:latin typeface="Calibri" panose="020F0502020204030204" pitchFamily="34" charset="0"/>
                        <a:ea typeface="Calibri" panose="020F0502020204030204" pitchFamily="34" charset="0"/>
                        <a:cs typeface="Times New Roman" panose="02020603050405020304" pitchFamily="18" charset="0"/>
                      </a:endParaRPr>
                    </a:p>
                  </a:txBody>
                  <a:tcPr marL="41762" marR="41762" marT="41762" marB="41762"/>
                </a:tc>
                <a:extLst>
                  <a:ext uri="{0D108BD9-81ED-4DB2-BD59-A6C34878D82A}">
                    <a16:rowId xmlns:a16="http://schemas.microsoft.com/office/drawing/2014/main" val="1729505900"/>
                  </a:ext>
                </a:extLst>
              </a:tr>
            </a:tbl>
          </a:graphicData>
        </a:graphic>
      </p:graphicFrame>
      <p:sp>
        <p:nvSpPr>
          <p:cNvPr id="8" name="Rectangle 1">
            <a:extLst>
              <a:ext uri="{FF2B5EF4-FFF2-40B4-BE49-F238E27FC236}">
                <a16:creationId xmlns:a16="http://schemas.microsoft.com/office/drawing/2014/main" id="{232E9B03-3289-4009-5CF3-2ECEDF6C0FA1}"/>
              </a:ext>
            </a:extLst>
          </p:cNvPr>
          <p:cNvSpPr>
            <a:spLocks noChangeArrowheads="1"/>
          </p:cNvSpPr>
          <p:nvPr/>
        </p:nvSpPr>
        <p:spPr bwMode="auto">
          <a:xfrm>
            <a:off x="8450772" y="-2603712"/>
            <a:ext cx="25168674" cy="752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921597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656D00-1C9C-E76B-0A5E-2D7C44605977}"/>
              </a:ext>
            </a:extLst>
          </p:cNvPr>
          <p:cNvSpPr txBox="1"/>
          <p:nvPr/>
        </p:nvSpPr>
        <p:spPr>
          <a:xfrm>
            <a:off x="543231" y="579744"/>
            <a:ext cx="8689259" cy="4729243"/>
          </a:xfrm>
          <a:prstGeom prst="rect">
            <a:avLst/>
          </a:prstGeom>
          <a:noFill/>
        </p:spPr>
        <p:txBody>
          <a:bodyPr wrap="square">
            <a:spAutoFit/>
          </a:bodyPr>
          <a:lstStyle/>
          <a:p>
            <a:pPr algn="just">
              <a:buNone/>
            </a:pPr>
            <a:r>
              <a:rPr lang="en-US" sz="2400" b="1" i="1" dirty="0">
                <a:solidFill>
                  <a:srgbClr val="000000"/>
                </a:solidFill>
                <a:latin typeface="Bodoni MT" panose="02070603080606020203" pitchFamily="18" charset="0"/>
                <a:ea typeface="Times New Roman" panose="02020603050405020304" pitchFamily="18" charset="0"/>
              </a:rPr>
              <a:t>Advantages of Multiprocessing operating system</a:t>
            </a:r>
            <a:r>
              <a:rPr lang="en-US" sz="2400" i="1" dirty="0">
                <a:solidFill>
                  <a:srgbClr val="000000"/>
                </a:solidFill>
                <a:latin typeface="Bodoni MT" panose="02070603080606020203" pitchFamily="18" charset="0"/>
                <a:ea typeface="Times New Roman" panose="02020603050405020304" pitchFamily="18" charset="0"/>
              </a:rPr>
              <a:t>:</a:t>
            </a:r>
          </a:p>
          <a:p>
            <a:pPr algn="just">
              <a:buNone/>
            </a:pPr>
            <a:endParaRPr lang="en-US" sz="2400" i="1" dirty="0">
              <a:solidFill>
                <a:srgbClr val="000000"/>
              </a:solidFill>
              <a:latin typeface="Bodoni MT" panose="02070603080606020203" pitchFamily="18" charset="0"/>
              <a:ea typeface="Times New Roman" panose="02020603050405020304" pitchFamily="18" charset="0"/>
            </a:endParaRPr>
          </a:p>
          <a:p>
            <a:pPr algn="just">
              <a:buNone/>
            </a:pPr>
            <a:endParaRPr lang="en-IN" sz="2400" i="1" dirty="0">
              <a:latin typeface="Bodoni MT" panose="02070603080606020203" pitchFamily="18" charset="0"/>
              <a:ea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400" b="1" i="1" dirty="0">
                <a:solidFill>
                  <a:srgbClr val="000000"/>
                </a:solidFill>
                <a:latin typeface="Bodoni MT" panose="02070603080606020203" pitchFamily="18" charset="0"/>
                <a:ea typeface="Calibri" panose="020F0502020204030204" pitchFamily="34" charset="0"/>
                <a:cs typeface="Times New Roman" panose="02020603050405020304" pitchFamily="18" charset="0"/>
              </a:rPr>
              <a:t>Increased reliability:</a:t>
            </a:r>
            <a:r>
              <a:rPr lang="en-US" sz="2400" i="1" dirty="0">
                <a:solidFill>
                  <a:srgbClr val="000000"/>
                </a:solidFill>
                <a:latin typeface="Bodoni MT" panose="02070603080606020203" pitchFamily="18" charset="0"/>
                <a:ea typeface="Calibri" panose="020F0502020204030204" pitchFamily="34" charset="0"/>
                <a:cs typeface="Times New Roman" panose="02020603050405020304" pitchFamily="18" charset="0"/>
              </a:rPr>
              <a:t> Due to the multiprocessing system, processing tasks can be distributed among several processors. This increases reliability as if one processor fails, the task can be given to another processor for completion.</a:t>
            </a:r>
            <a:endParaRPr lang="en-IN" sz="2400" i="1" dirty="0">
              <a:latin typeface="Bodoni MT" panose="02070603080606020203" pitchFamily="18"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endParaRPr lang="en-US" sz="2400" b="1" i="1" dirty="0">
              <a:solidFill>
                <a:srgbClr val="000000"/>
              </a:solidFill>
              <a:latin typeface="Bodoni MT" panose="02070603080606020203" pitchFamily="18"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400" b="1" i="1" dirty="0">
                <a:solidFill>
                  <a:srgbClr val="000000"/>
                </a:solidFill>
                <a:latin typeface="Bodoni MT" panose="02070603080606020203" pitchFamily="18" charset="0"/>
                <a:ea typeface="Calibri" panose="020F0502020204030204" pitchFamily="34" charset="0"/>
                <a:cs typeface="Times New Roman" panose="02020603050405020304" pitchFamily="18" charset="0"/>
              </a:rPr>
              <a:t>Increased throughout:</a:t>
            </a:r>
            <a:r>
              <a:rPr lang="en-US" sz="2400" i="1" dirty="0">
                <a:solidFill>
                  <a:srgbClr val="000000"/>
                </a:solidFill>
                <a:latin typeface="Bodoni MT" panose="02070603080606020203" pitchFamily="18" charset="0"/>
                <a:ea typeface="Calibri" panose="020F0502020204030204" pitchFamily="34" charset="0"/>
                <a:cs typeface="Times New Roman" panose="02020603050405020304" pitchFamily="18" charset="0"/>
              </a:rPr>
              <a:t> As several processors increase, more work can be done in less.</a:t>
            </a:r>
            <a:endParaRPr lang="en-IN" sz="2400" i="1" dirty="0">
              <a:latin typeface="Bodoni MT" panose="02070603080606020203" pitchFamily="18" charset="0"/>
              <a:ea typeface="Calibri" panose="020F0502020204030204" pitchFamily="34" charset="0"/>
              <a:cs typeface="Times New Roman" panose="02020603050405020304" pitchFamily="18" charset="0"/>
            </a:endParaRPr>
          </a:p>
          <a:p>
            <a:pPr algn="just">
              <a:buNone/>
            </a:pPr>
            <a:r>
              <a:rPr lang="en-US" sz="2400" b="1" i="1" dirty="0">
                <a:solidFill>
                  <a:srgbClr val="000000"/>
                </a:solidFill>
                <a:latin typeface="Bodoni MT" panose="02070603080606020203" pitchFamily="18" charset="0"/>
                <a:ea typeface="Times New Roman" panose="02020603050405020304" pitchFamily="18" charset="0"/>
              </a:rPr>
              <a:t>Disadvantages of Multiprocessing operating System</a:t>
            </a:r>
          </a:p>
          <a:p>
            <a:pPr algn="just">
              <a:buNone/>
            </a:pPr>
            <a:endParaRPr lang="en-US" sz="2400" b="1" i="1" dirty="0">
              <a:solidFill>
                <a:srgbClr val="000000"/>
              </a:solidFill>
              <a:latin typeface="Bodoni MT" panose="02070603080606020203" pitchFamily="18" charset="0"/>
              <a:ea typeface="Times New Roman" panose="02020603050405020304" pitchFamily="18" charset="0"/>
            </a:endParaRPr>
          </a:p>
          <a:p>
            <a:pPr algn="just">
              <a:buNone/>
            </a:pPr>
            <a:endParaRPr lang="en-IN" sz="2400" i="1" dirty="0">
              <a:latin typeface="Bodoni MT" panose="02070603080606020203" pitchFamily="18" charset="0"/>
              <a:ea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400" i="1" dirty="0">
                <a:solidFill>
                  <a:srgbClr val="000000"/>
                </a:solidFill>
                <a:latin typeface="Bodoni MT" panose="02070603080606020203" pitchFamily="18" charset="0"/>
                <a:ea typeface="Calibri" panose="020F0502020204030204" pitchFamily="34" charset="0"/>
                <a:cs typeface="Times New Roman" panose="02020603050405020304" pitchFamily="18" charset="0"/>
              </a:rPr>
              <a:t>Multiprocessing operating system is more complex and sophisticated as it takes care of multiple CPUs simultaneously.</a:t>
            </a:r>
            <a:endParaRPr lang="en-IN" sz="2400" i="1" dirty="0">
              <a:latin typeface="Bodoni MT" panose="020706030806060202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908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ultitasking Operating System">
            <a:extLst>
              <a:ext uri="{FF2B5EF4-FFF2-40B4-BE49-F238E27FC236}">
                <a16:creationId xmlns:a16="http://schemas.microsoft.com/office/drawing/2014/main" id="{EA258517-DF21-2E9D-CD1C-526A2C32EB0B}"/>
              </a:ext>
            </a:extLst>
          </p:cNvPr>
          <p:cNvPicPr>
            <a:picLocks noChangeAspect="1"/>
          </p:cNvPicPr>
          <p:nvPr/>
        </p:nvPicPr>
        <p:blipFill>
          <a:blip r:embed="rId2"/>
          <a:srcRect/>
          <a:stretch>
            <a:fillRect/>
          </a:stretch>
        </p:blipFill>
        <p:spPr bwMode="auto">
          <a:xfrm>
            <a:off x="6848454" y="226274"/>
            <a:ext cx="5240020" cy="3554095"/>
          </a:xfrm>
          <a:prstGeom prst="rect">
            <a:avLst/>
          </a:prstGeom>
          <a:noFill/>
          <a:ln w="9525">
            <a:noFill/>
            <a:miter lim="800000"/>
            <a:headEnd/>
            <a:tailEnd/>
          </a:ln>
        </p:spPr>
      </p:pic>
      <p:sp>
        <p:nvSpPr>
          <p:cNvPr id="4" name="TextBox 3">
            <a:extLst>
              <a:ext uri="{FF2B5EF4-FFF2-40B4-BE49-F238E27FC236}">
                <a16:creationId xmlns:a16="http://schemas.microsoft.com/office/drawing/2014/main" id="{0BB8A1A2-1B1E-CED3-F910-46249F286064}"/>
              </a:ext>
            </a:extLst>
          </p:cNvPr>
          <p:cNvSpPr txBox="1"/>
          <p:nvPr/>
        </p:nvSpPr>
        <p:spPr>
          <a:xfrm>
            <a:off x="103526" y="226274"/>
            <a:ext cx="6100916" cy="300019"/>
          </a:xfrm>
          <a:prstGeom prst="rect">
            <a:avLst/>
          </a:prstGeom>
          <a:noFill/>
        </p:spPr>
        <p:txBody>
          <a:bodyPr wrap="square">
            <a:spAutoFit/>
          </a:bodyPr>
          <a:lstStyle/>
          <a:p>
            <a:pPr lvl="0" algn="just">
              <a:lnSpc>
                <a:spcPts val="1560"/>
              </a:lnSpc>
              <a:spcBef>
                <a:spcPts val="1000"/>
              </a:spcBef>
            </a:pPr>
            <a:r>
              <a:rPr lang="en-US" sz="1800" b="1" i="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Multitasking Operating System</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094BBDB-DA75-383D-34E2-315C9A06CEFC}"/>
              </a:ext>
            </a:extLst>
          </p:cNvPr>
          <p:cNvSpPr txBox="1"/>
          <p:nvPr/>
        </p:nvSpPr>
        <p:spPr>
          <a:xfrm>
            <a:off x="103526" y="599103"/>
            <a:ext cx="6100916" cy="2370905"/>
          </a:xfrm>
          <a:prstGeom prst="rect">
            <a:avLst/>
          </a:prstGeom>
          <a:noFill/>
        </p:spPr>
        <p:txBody>
          <a:bodyPr wrap="square">
            <a:spAutoFit/>
          </a:bodyPr>
          <a:lstStyle/>
          <a:p>
            <a:pPr algn="just">
              <a:buNone/>
            </a:pPr>
            <a:r>
              <a:rPr lang="en-US" sz="1800" dirty="0">
                <a:solidFill>
                  <a:srgbClr val="000000"/>
                </a:solidFill>
                <a:effectLst/>
                <a:latin typeface="Times New Roman" panose="02020603050405020304" pitchFamily="18" charset="0"/>
                <a:ea typeface="Times New Roman" panose="02020603050405020304" pitchFamily="18" charset="0"/>
              </a:rPr>
              <a:t>The multitasking operating system is a logical extension of a multiprogramming system that enables </a:t>
            </a:r>
            <a:r>
              <a:rPr lang="en-US" sz="1800" b="1" dirty="0">
                <a:solidFill>
                  <a:srgbClr val="000000"/>
                </a:solidFill>
                <a:effectLst/>
                <a:latin typeface="Times New Roman" panose="02020603050405020304" pitchFamily="18" charset="0"/>
                <a:ea typeface="Times New Roman" panose="02020603050405020304" pitchFamily="18" charset="0"/>
              </a:rPr>
              <a:t>multiple</a:t>
            </a:r>
            <a:r>
              <a:rPr lang="en-US" sz="1800" dirty="0">
                <a:solidFill>
                  <a:srgbClr val="000000"/>
                </a:solidFill>
                <a:effectLst/>
                <a:latin typeface="Times New Roman" panose="02020603050405020304" pitchFamily="18" charset="0"/>
                <a:ea typeface="Times New Roman" panose="02020603050405020304" pitchFamily="18" charset="0"/>
              </a:rPr>
              <a:t> programs simultaneously. It allows a user to perform more than one computer task at the same time.</a:t>
            </a:r>
            <a:endParaRPr lang="en-IN" sz="1800" dirty="0">
              <a:effectLst/>
              <a:latin typeface="Times New Roman" panose="02020603050405020304" pitchFamily="18" charset="0"/>
              <a:ea typeface="Times New Roman" panose="02020603050405020304" pitchFamily="18" charset="0"/>
            </a:endParaRPr>
          </a:p>
          <a:p>
            <a:pPr algn="just">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Types of multitasking OS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Courier New" panose="02070309020205020404" pitchFamily="49" charset="0"/>
              <a:buChar char="o"/>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Preemptive multitasking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1800" b="1" dirty="0">
                <a:effectLst/>
                <a:latin typeface="Times New Roman" panose="02020603050405020304" pitchFamily="18" charset="0"/>
                <a:ea typeface="Calibri" panose="020F0502020204030204" pitchFamily="34" charset="0"/>
              </a:rPr>
              <a:t>Cooperative multitasking</a:t>
            </a:r>
            <a:endParaRPr lang="en-IN" dirty="0"/>
          </a:p>
        </p:txBody>
      </p:sp>
      <p:sp>
        <p:nvSpPr>
          <p:cNvPr id="8" name="TextBox 7">
            <a:extLst>
              <a:ext uri="{FF2B5EF4-FFF2-40B4-BE49-F238E27FC236}">
                <a16:creationId xmlns:a16="http://schemas.microsoft.com/office/drawing/2014/main" id="{96D9E078-1155-48A9-BBB8-3294CE21E061}"/>
              </a:ext>
            </a:extLst>
          </p:cNvPr>
          <p:cNvSpPr txBox="1"/>
          <p:nvPr/>
        </p:nvSpPr>
        <p:spPr>
          <a:xfrm>
            <a:off x="0" y="3780369"/>
            <a:ext cx="6100916" cy="2447273"/>
          </a:xfrm>
          <a:prstGeom prst="rect">
            <a:avLst/>
          </a:prstGeom>
          <a:noFill/>
        </p:spPr>
        <p:txBody>
          <a:bodyPr wrap="square">
            <a:spAutoFit/>
          </a:bodyPr>
          <a:lstStyle/>
          <a:p>
            <a:pPr algn="just">
              <a:lnSpc>
                <a:spcPts val="1560"/>
              </a:lnSpc>
              <a:spcBef>
                <a:spcPts val="1000"/>
              </a:spcBef>
              <a:buNone/>
            </a:pPr>
            <a:r>
              <a:rPr lang="en-US" sz="1800" b="1" i="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Multitasking operating system</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operating system is more suited to supporting multiple users simultaneously.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multitasking operating systems have well-defined memory management.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1560"/>
              </a:lnSpc>
              <a:spcBef>
                <a:spcPts val="1000"/>
              </a:spcBef>
              <a:buNone/>
            </a:pPr>
            <a:r>
              <a:rPr lang="en-US" sz="1800" b="1" i="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Multitasking operating system</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multiple processors are busier at the same time to complete any task in a multitasking environment, so the CPU generates more heat.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6944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CB9B4A-51D7-7392-CE23-F4146521748B}"/>
              </a:ext>
            </a:extLst>
          </p:cNvPr>
          <p:cNvSpPr txBox="1"/>
          <p:nvPr/>
        </p:nvSpPr>
        <p:spPr>
          <a:xfrm>
            <a:off x="179438" y="115196"/>
            <a:ext cx="6100916" cy="4439933"/>
          </a:xfrm>
          <a:prstGeom prst="rect">
            <a:avLst/>
          </a:prstGeom>
          <a:noFill/>
        </p:spPr>
        <p:txBody>
          <a:bodyPr wrap="square">
            <a:spAutoFit/>
          </a:bodyPr>
          <a:lstStyle/>
          <a:p>
            <a:pPr lvl="0" algn="just">
              <a:lnSpc>
                <a:spcPts val="1560"/>
              </a:lnSpc>
            </a:pPr>
            <a:r>
              <a:rPr lang="en-US" sz="1800" b="1" i="1" u="sng" dirty="0">
                <a:solidFill>
                  <a:srgbClr val="000000"/>
                </a:solidFill>
                <a:effectLst/>
                <a:latin typeface="Times New Roman" panose="02020603050405020304" pitchFamily="18" charset="0"/>
                <a:ea typeface="Times New Roman" panose="02020603050405020304" pitchFamily="18" charset="0"/>
              </a:rPr>
              <a:t>6.	Network Operating System</a:t>
            </a:r>
            <a:endParaRPr lang="en-IN" sz="2800" b="1" dirty="0">
              <a:effectLst/>
              <a:latin typeface="Times New Roman" panose="02020603050405020304" pitchFamily="18" charset="0"/>
              <a:ea typeface="Times New Roman" panose="02020603050405020304" pitchFamily="18" charset="0"/>
            </a:endParaRPr>
          </a:p>
          <a:p>
            <a:pPr algn="just">
              <a:spcBef>
                <a:spcPts val="600"/>
              </a:spcBef>
              <a:spcAft>
                <a:spcPts val="720"/>
              </a:spcAft>
              <a:buNone/>
            </a:pPr>
            <a:r>
              <a:rPr lang="en-US" sz="1800" dirty="0">
                <a:effectLst/>
                <a:latin typeface="Times New Roman" panose="02020603050405020304" pitchFamily="18" charset="0"/>
                <a:ea typeface="Times New Roman" panose="02020603050405020304" pitchFamily="18" charset="0"/>
              </a:rPr>
              <a:t>An Operating system, which includes software and associated protocols to communicate with other computers via a network conveniently and cost-effectively, is called Network Operating System. A Network Operating System runs on a server and provides the server the capability to manage data, users, groups, security, applications, and other networking functions. The primary purpose of the network operating system is to allow shared file and printer access among multiple computers in a network, typically a local area network (LAN), a private network or to other networks.</a:t>
            </a:r>
            <a:endParaRPr lang="en-IN" sz="1800" dirty="0">
              <a:effectLst/>
              <a:latin typeface="Times New Roman" panose="02020603050405020304" pitchFamily="18" charset="0"/>
              <a:ea typeface="Times New Roman" panose="02020603050405020304" pitchFamily="18" charset="0"/>
            </a:endParaRPr>
          </a:p>
          <a:p>
            <a:pPr algn="just">
              <a:spcBef>
                <a:spcPts val="600"/>
              </a:spcBef>
              <a:spcAft>
                <a:spcPts val="720"/>
              </a:spcAft>
              <a:buNone/>
            </a:pPr>
            <a:r>
              <a:rPr lang="en-US" sz="1800" dirty="0">
                <a:effectLst/>
                <a:latin typeface="Times New Roman" panose="02020603050405020304" pitchFamily="18" charset="0"/>
                <a:ea typeface="Times New Roman" panose="02020603050405020304" pitchFamily="18" charset="0"/>
              </a:rPr>
              <a:t>Examples of network operating systems include Microsoft Windows Server 2003, Microsoft Windows Server 2008, UNIX, Linux, Mac OS X, Novell NetWare, and BSD.</a:t>
            </a:r>
            <a:endParaRPr lang="en-IN" sz="1800" dirty="0">
              <a:effectLst/>
              <a:latin typeface="Times New Roman" panose="02020603050405020304" pitchFamily="18" charset="0"/>
              <a:ea typeface="Times New Roman" panose="02020603050405020304" pitchFamily="18" charset="0"/>
            </a:endParaRPr>
          </a:p>
          <a:p>
            <a:pPr algn="just">
              <a:lnSpc>
                <a:spcPts val="1560"/>
              </a:lnSpc>
              <a:buNone/>
            </a:pPr>
            <a:r>
              <a:rPr lang="en-US" sz="1800" b="0" dirty="0">
                <a:effectLst/>
                <a:latin typeface="Times New Roman" panose="02020603050405020304" pitchFamily="18" charset="0"/>
                <a:ea typeface="Times New Roman" panose="02020603050405020304" pitchFamily="18" charset="0"/>
              </a:rPr>
              <a:t> </a:t>
            </a:r>
            <a:endParaRPr lang="en-IN" sz="2800" b="1" dirty="0">
              <a:effectLst/>
              <a:latin typeface="Times New Roman" panose="02020603050405020304" pitchFamily="18" charset="0"/>
              <a:ea typeface="Times New Roman" panose="02020603050405020304" pitchFamily="18" charset="0"/>
            </a:endParaRPr>
          </a:p>
        </p:txBody>
      </p:sp>
      <p:pic>
        <p:nvPicPr>
          <p:cNvPr id="4" name="Picture 3" descr="network Operating System">
            <a:extLst>
              <a:ext uri="{FF2B5EF4-FFF2-40B4-BE49-F238E27FC236}">
                <a16:creationId xmlns:a16="http://schemas.microsoft.com/office/drawing/2014/main" id="{289EB74E-F99C-0AD8-5685-D63A4DC4398B}"/>
              </a:ext>
            </a:extLst>
          </p:cNvPr>
          <p:cNvPicPr>
            <a:picLocks noChangeAspect="1"/>
          </p:cNvPicPr>
          <p:nvPr/>
        </p:nvPicPr>
        <p:blipFill>
          <a:blip r:embed="rId2"/>
          <a:srcRect/>
          <a:stretch>
            <a:fillRect/>
          </a:stretch>
        </p:blipFill>
        <p:spPr bwMode="auto">
          <a:xfrm>
            <a:off x="6966155" y="115196"/>
            <a:ext cx="4572000" cy="4039235"/>
          </a:xfrm>
          <a:prstGeom prst="rect">
            <a:avLst/>
          </a:prstGeom>
          <a:noFill/>
          <a:ln w="9525">
            <a:noFill/>
            <a:miter lim="800000"/>
            <a:headEnd/>
            <a:tailEnd/>
          </a:ln>
        </p:spPr>
      </p:pic>
    </p:spTree>
    <p:extLst>
      <p:ext uri="{BB962C8B-B14F-4D97-AF65-F5344CB8AC3E}">
        <p14:creationId xmlns:p14="http://schemas.microsoft.com/office/powerpoint/2010/main" val="745319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E82F29-3F46-C231-E443-76FFDE5C8347}"/>
              </a:ext>
            </a:extLst>
          </p:cNvPr>
          <p:cNvPicPr>
            <a:picLocks noChangeAspect="1"/>
          </p:cNvPicPr>
          <p:nvPr/>
        </p:nvPicPr>
        <p:blipFill>
          <a:blip r:embed="rId2"/>
          <a:srcRect/>
          <a:stretch>
            <a:fillRect/>
          </a:stretch>
        </p:blipFill>
        <p:spPr bwMode="auto">
          <a:xfrm>
            <a:off x="7241938" y="170250"/>
            <a:ext cx="4563382" cy="2651607"/>
          </a:xfrm>
          <a:prstGeom prst="rect">
            <a:avLst/>
          </a:prstGeom>
          <a:noFill/>
          <a:ln w="9525">
            <a:noFill/>
            <a:miter lim="800000"/>
            <a:headEnd/>
            <a:tailEnd/>
          </a:ln>
        </p:spPr>
      </p:pic>
      <p:sp>
        <p:nvSpPr>
          <p:cNvPr id="5" name="TextBox 4">
            <a:extLst>
              <a:ext uri="{FF2B5EF4-FFF2-40B4-BE49-F238E27FC236}">
                <a16:creationId xmlns:a16="http://schemas.microsoft.com/office/drawing/2014/main" id="{920BA77B-CCA8-5690-6F75-170FB564C511}"/>
              </a:ext>
            </a:extLst>
          </p:cNvPr>
          <p:cNvSpPr txBox="1"/>
          <p:nvPr/>
        </p:nvSpPr>
        <p:spPr>
          <a:xfrm>
            <a:off x="228600" y="170250"/>
            <a:ext cx="6100916" cy="369332"/>
          </a:xfrm>
          <a:prstGeom prst="rect">
            <a:avLst/>
          </a:prstGeom>
          <a:noFill/>
        </p:spPr>
        <p:txBody>
          <a:bodyPr wrap="square">
            <a:spAutoFit/>
          </a:bodyPr>
          <a:lstStyle/>
          <a:p>
            <a:pPr algn="just">
              <a:buNone/>
            </a:pPr>
            <a:r>
              <a:rPr lang="en-US" sz="1800" b="1" i="1" dirty="0">
                <a:solidFill>
                  <a:srgbClr val="000000"/>
                </a:solidFill>
                <a:effectLst/>
                <a:latin typeface="Times New Roman" panose="02020603050405020304" pitchFamily="18" charset="0"/>
                <a:ea typeface="Times New Roman" panose="02020603050405020304" pitchFamily="18" charset="0"/>
              </a:rPr>
              <a:t>Types of Network Operating System</a:t>
            </a:r>
            <a:endParaRPr lang="en-IN" sz="1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27F228F3-67EC-15B7-7A84-DE80F70BC4AC}"/>
              </a:ext>
            </a:extLst>
          </p:cNvPr>
          <p:cNvSpPr txBox="1"/>
          <p:nvPr/>
        </p:nvSpPr>
        <p:spPr>
          <a:xfrm>
            <a:off x="78658" y="906546"/>
            <a:ext cx="6636774" cy="2031325"/>
          </a:xfrm>
          <a:prstGeom prst="rect">
            <a:avLst/>
          </a:prstGeom>
          <a:noFill/>
        </p:spPr>
        <p:txBody>
          <a:bodyPr wrap="square">
            <a:spAutoFit/>
          </a:bodyPr>
          <a:lstStyle/>
          <a:p>
            <a:pPr marL="342900" lvl="0" indent="-342900" algn="jus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Peer-to-Peer:</a:t>
            </a:r>
          </a:p>
          <a:p>
            <a:pPr lvl="0" algn="just"/>
            <a:r>
              <a:rPr lang="en-US" sz="1800" dirty="0">
                <a:solidFill>
                  <a:srgbClr val="000000"/>
                </a:solidFill>
                <a:effectLst/>
                <a:latin typeface="Times New Roman" panose="02020603050405020304" pitchFamily="18" charset="0"/>
                <a:ea typeface="Times New Roman" panose="02020603050405020304" pitchFamily="18" charset="0"/>
              </a:rPr>
              <a:t> In peer-to-peer (P2P): networking, a group of computers are linked together with equal permissions and responsibilities for processing data. Unlike traditional client-server networking, no devices in a P2P network are designated solely to serve or to receive data. Each connected machine has the same rights as its “peers”, and can be used for the same purposes.</a:t>
            </a:r>
            <a:endParaRPr lang="en-IN" sz="18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DFBE89BA-32D6-859E-4A89-15B3085E39AD}"/>
              </a:ext>
            </a:extLst>
          </p:cNvPr>
          <p:cNvSpPr txBox="1"/>
          <p:nvPr/>
        </p:nvSpPr>
        <p:spPr>
          <a:xfrm>
            <a:off x="0" y="3179490"/>
            <a:ext cx="5169310" cy="2031325"/>
          </a:xfrm>
          <a:prstGeom prst="rect">
            <a:avLst/>
          </a:prstGeom>
          <a:noFill/>
        </p:spPr>
        <p:txBody>
          <a:bodyPr wrap="square">
            <a:spAutoFit/>
          </a:bodyPr>
          <a:lstStyle/>
          <a:p>
            <a:pPr marL="342900" lvl="0" indent="-342900" algn="jus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rPr>
              <a:t>Client-Server Operating System:</a:t>
            </a:r>
          </a:p>
          <a:p>
            <a:pPr lvl="0" algn="just"/>
            <a:endParaRPr lang="en-US" dirty="0">
              <a:solidFill>
                <a:srgbClr val="000000"/>
              </a:solidFill>
              <a:latin typeface="Times New Roman" panose="02020603050405020304" pitchFamily="18" charset="0"/>
              <a:ea typeface="Times New Roman" panose="02020603050405020304" pitchFamily="18" charset="0"/>
            </a:endParaRPr>
          </a:p>
          <a:p>
            <a:pPr lvl="0" algn="just"/>
            <a:r>
              <a:rPr lang="en-US" sz="1800" dirty="0">
                <a:solidFill>
                  <a:srgbClr val="000000"/>
                </a:solidFill>
                <a:effectLst/>
                <a:latin typeface="Times New Roman" panose="02020603050405020304" pitchFamily="18" charset="0"/>
                <a:ea typeface="Times New Roman" panose="02020603050405020304" pitchFamily="18" charset="0"/>
              </a:rPr>
              <a:t> The term "client/server" describes a type of distributed processing in which an application is divided into two parts, each possibly residing on separate operating systems, but working together to provide a service to the end user</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72894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AD2AC4-1AE9-AEB7-1492-8794FFE9E8C1}"/>
              </a:ext>
            </a:extLst>
          </p:cNvPr>
          <p:cNvSpPr txBox="1"/>
          <p:nvPr/>
        </p:nvSpPr>
        <p:spPr>
          <a:xfrm>
            <a:off x="90950" y="549583"/>
            <a:ext cx="4776017" cy="3909212"/>
          </a:xfrm>
          <a:prstGeom prst="rect">
            <a:avLst/>
          </a:prstGeom>
          <a:noFill/>
        </p:spPr>
        <p:txBody>
          <a:bodyPr wrap="square">
            <a:spAutoFit/>
          </a:bodyPr>
          <a:lstStyle/>
          <a:p>
            <a:pPr algn="just">
              <a:lnSpc>
                <a:spcPts val="1560"/>
              </a:lnSpc>
              <a:spcBef>
                <a:spcPts val="1000"/>
              </a:spcBef>
              <a:buNone/>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Network Operating System</a:t>
            </a:r>
          </a:p>
          <a:p>
            <a:pPr algn="just">
              <a:lnSpc>
                <a:spcPts val="1560"/>
              </a:lnSpc>
              <a:spcBef>
                <a:spcPts val="1000"/>
              </a:spcBef>
              <a:buNone/>
            </a:pP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this type of operating system, network traffic reduces due to the division between clients and the server.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type of system is less expensive to set up and maintain.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Centralized servers are highly stable.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Security is server managed.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Upgrades to new technologies and hardware can be easily integrated into the system.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Remote access to servers is possible from different locations and types of systems.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ts val="1565"/>
              </a:lnSpc>
              <a:spcBef>
                <a:spcPts val="250"/>
              </a:spcBef>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1F5C6BF-54D7-2BC1-BC7E-DB1BDE92B2EF}"/>
              </a:ext>
            </a:extLst>
          </p:cNvPr>
          <p:cNvSpPr txBox="1"/>
          <p:nvPr/>
        </p:nvSpPr>
        <p:spPr>
          <a:xfrm>
            <a:off x="6803923" y="647906"/>
            <a:ext cx="5051322" cy="3336811"/>
          </a:xfrm>
          <a:prstGeom prst="rect">
            <a:avLst/>
          </a:prstGeom>
          <a:noFill/>
        </p:spPr>
        <p:txBody>
          <a:bodyPr wrap="square">
            <a:spAutoFit/>
          </a:bodyPr>
          <a:lstStyle/>
          <a:p>
            <a:pPr algn="just">
              <a:lnSpc>
                <a:spcPts val="1560"/>
              </a:lnSpc>
              <a:spcBef>
                <a:spcPts val="1000"/>
              </a:spcBef>
              <a:buNone/>
            </a:pPr>
            <a:r>
              <a:rPr lang="en-US" sz="20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Network Operating System</a:t>
            </a:r>
          </a:p>
          <a:p>
            <a:pPr algn="just">
              <a:lnSpc>
                <a:spcPts val="1560"/>
              </a:lnSpc>
              <a:spcBef>
                <a:spcPts val="1000"/>
              </a:spcBef>
              <a:buNone/>
            </a:pPr>
            <a:endParaRPr lang="en-IN" sz="20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this type of operating system, the failure of any node in a system affects the whole system.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Security and performance are important issues. So trained network administrators are required for network administration.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High cost of buying and running a server.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Dependency on a central location for most operations.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000" dirty="0">
                <a:effectLst/>
                <a:latin typeface="Times New Roman" panose="02020603050405020304" pitchFamily="18" charset="0"/>
                <a:ea typeface="Times New Roman" panose="02020603050405020304" pitchFamily="18" charset="0"/>
              </a:rPr>
              <a:t>Regular maintenance and updates are required</a:t>
            </a:r>
            <a:endParaRPr lang="en-IN" sz="2000" dirty="0"/>
          </a:p>
        </p:txBody>
      </p:sp>
      <p:cxnSp>
        <p:nvCxnSpPr>
          <p:cNvPr id="7" name="Straight Connector 6">
            <a:extLst>
              <a:ext uri="{FF2B5EF4-FFF2-40B4-BE49-F238E27FC236}">
                <a16:creationId xmlns:a16="http://schemas.microsoft.com/office/drawing/2014/main" id="{69C556C7-667D-1233-F267-DAE8C5D6D45F}"/>
              </a:ext>
            </a:extLst>
          </p:cNvPr>
          <p:cNvCxnSpPr/>
          <p:nvPr/>
        </p:nvCxnSpPr>
        <p:spPr>
          <a:xfrm>
            <a:off x="5565058" y="0"/>
            <a:ext cx="88490" cy="6037006"/>
          </a:xfrm>
          <a:prstGeom prst="line">
            <a:avLst/>
          </a:prstGeom>
          <a:scene3d>
            <a:camera prst="isometricOffAxis1Right"/>
            <a:lightRig rig="threePt" dir="t"/>
          </a:scene3d>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71832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E938CB-1200-06E7-B8BB-69A755E5BD17}"/>
              </a:ext>
            </a:extLst>
          </p:cNvPr>
          <p:cNvSpPr txBox="1"/>
          <p:nvPr/>
        </p:nvSpPr>
        <p:spPr>
          <a:xfrm>
            <a:off x="179438" y="291883"/>
            <a:ext cx="6100916" cy="4696157"/>
          </a:xfrm>
          <a:prstGeom prst="rect">
            <a:avLst/>
          </a:prstGeom>
          <a:noFill/>
        </p:spPr>
        <p:txBody>
          <a:bodyPr wrap="square">
            <a:spAutoFit/>
          </a:bodyPr>
          <a:lstStyle/>
          <a:p>
            <a:pPr lvl="0" algn="just">
              <a:lnSpc>
                <a:spcPts val="1560"/>
              </a:lnSpc>
            </a:pPr>
            <a:r>
              <a:rPr lang="en-US" sz="1800" b="1" i="1" u="sng" dirty="0">
                <a:solidFill>
                  <a:srgbClr val="000000"/>
                </a:solidFill>
                <a:effectLst/>
                <a:latin typeface="Times New Roman" panose="02020603050405020304" pitchFamily="18" charset="0"/>
                <a:ea typeface="Times New Roman" panose="02020603050405020304" pitchFamily="18" charset="0"/>
              </a:rPr>
              <a:t>7.	Real Time Operating System</a:t>
            </a:r>
            <a:endParaRPr lang="en-IN" sz="2800" b="1" dirty="0">
              <a:effectLst/>
              <a:latin typeface="Times New Roman" panose="02020603050405020304" pitchFamily="18" charset="0"/>
              <a:ea typeface="Times New Roman" panose="02020603050405020304" pitchFamily="18" charset="0"/>
            </a:endParaRPr>
          </a:p>
          <a:p>
            <a:pPr algn="just">
              <a:spcBef>
                <a:spcPts val="600"/>
              </a:spcBef>
              <a:spcAft>
                <a:spcPts val="720"/>
              </a:spcAft>
              <a:buNone/>
            </a:pPr>
            <a:r>
              <a:rPr lang="en-US" sz="1800" dirty="0">
                <a:effectLst/>
                <a:latin typeface="Times New Roman" panose="02020603050405020304" pitchFamily="18" charset="0"/>
                <a:ea typeface="Times New Roman" panose="02020603050405020304" pitchFamily="18" charset="0"/>
              </a:rPr>
              <a:t>A real-time system is defined as a data processing system in which the time interval required to process and respond to inputs is so small that it controls the environment. The time taken by the system to respond to an input and display of required updated information is termed as the </a:t>
            </a:r>
            <a:r>
              <a:rPr lang="en-US" sz="1800" b="1" dirty="0">
                <a:effectLst/>
                <a:latin typeface="Times New Roman" panose="02020603050405020304" pitchFamily="18" charset="0"/>
                <a:ea typeface="Times New Roman" panose="02020603050405020304" pitchFamily="18" charset="0"/>
              </a:rPr>
              <a:t>response time</a:t>
            </a:r>
            <a:r>
              <a:rPr lang="en-US" sz="1800" dirty="0">
                <a:effectLst/>
                <a:latin typeface="Times New Roman" panose="02020603050405020304" pitchFamily="18" charset="0"/>
                <a:ea typeface="Times New Roman" panose="02020603050405020304" pitchFamily="18" charset="0"/>
              </a:rPr>
              <a:t>. So in this method, the response time is very less as compared to online processing.</a:t>
            </a:r>
            <a:endParaRPr lang="en-IN" sz="1800" dirty="0">
              <a:effectLst/>
              <a:latin typeface="Times New Roman" panose="02020603050405020304" pitchFamily="18" charset="0"/>
              <a:ea typeface="Times New Roman" panose="02020603050405020304" pitchFamily="18" charset="0"/>
            </a:endParaRPr>
          </a:p>
          <a:p>
            <a:pPr algn="just">
              <a:spcBef>
                <a:spcPts val="600"/>
              </a:spcBef>
              <a:spcAft>
                <a:spcPts val="720"/>
              </a:spcAft>
              <a:buNone/>
            </a:pPr>
            <a:r>
              <a:rPr lang="en-US" sz="1800" dirty="0">
                <a:effectLst/>
                <a:latin typeface="Times New Roman" panose="02020603050405020304" pitchFamily="18" charset="0"/>
                <a:ea typeface="Times New Roman" panose="02020603050405020304" pitchFamily="18" charset="0"/>
              </a:rPr>
              <a:t>Real-time systems are used when there are rigid time requirements on the operation of a processor or the flow of data and real-time systems can be used as a control device in a dedicated application. A real-time operating system must have well-defined, fixed time constraints, otherwise the system will fail. For example, Scientific experiments, medical imaging systems, industrial control systems, weapon systems, robots, air traffic control systems, etc.</a:t>
            </a:r>
            <a:endParaRPr lang="en-IN" sz="1800" dirty="0">
              <a:effectLst/>
              <a:latin typeface="Times New Roman" panose="02020603050405020304" pitchFamily="18" charset="0"/>
              <a:ea typeface="Times New Roman" panose="02020603050405020304" pitchFamily="18" charset="0"/>
            </a:endParaRPr>
          </a:p>
        </p:txBody>
      </p:sp>
      <p:pic>
        <p:nvPicPr>
          <p:cNvPr id="4" name="Picture 3" descr="Real Time Operating System">
            <a:extLst>
              <a:ext uri="{FF2B5EF4-FFF2-40B4-BE49-F238E27FC236}">
                <a16:creationId xmlns:a16="http://schemas.microsoft.com/office/drawing/2014/main" id="{76531686-E5A3-0CBA-5864-15554B148673}"/>
              </a:ext>
            </a:extLst>
          </p:cNvPr>
          <p:cNvPicPr>
            <a:picLocks noChangeAspect="1"/>
          </p:cNvPicPr>
          <p:nvPr/>
        </p:nvPicPr>
        <p:blipFill>
          <a:blip r:embed="rId2"/>
          <a:srcRect/>
          <a:stretch>
            <a:fillRect/>
          </a:stretch>
        </p:blipFill>
        <p:spPr bwMode="auto">
          <a:xfrm>
            <a:off x="6725264" y="380211"/>
            <a:ext cx="5171768" cy="4417931"/>
          </a:xfrm>
          <a:prstGeom prst="rect">
            <a:avLst/>
          </a:prstGeom>
          <a:noFill/>
          <a:ln w="9525">
            <a:noFill/>
            <a:miter lim="800000"/>
            <a:headEnd/>
            <a:tailEnd/>
          </a:ln>
        </p:spPr>
      </p:pic>
    </p:spTree>
    <p:extLst>
      <p:ext uri="{BB962C8B-B14F-4D97-AF65-F5344CB8AC3E}">
        <p14:creationId xmlns:p14="http://schemas.microsoft.com/office/powerpoint/2010/main" val="2989329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AC7337-E708-8BD1-2CC5-0463093A0959}"/>
              </a:ext>
            </a:extLst>
          </p:cNvPr>
          <p:cNvSpPr>
            <a:spLocks noGrp="1"/>
          </p:cNvSpPr>
          <p:nvPr>
            <p:ph type="title"/>
          </p:nvPr>
        </p:nvSpPr>
        <p:spPr>
          <a:xfrm>
            <a:off x="56920" y="0"/>
            <a:ext cx="11425083" cy="1012929"/>
          </a:xfrm>
        </p:spPr>
        <p:txBody>
          <a:bodyPr>
            <a:normAutofit/>
          </a:bodyPr>
          <a:lstStyle/>
          <a:p>
            <a:r>
              <a:rPr lang="en-US" i="1" dirty="0">
                <a:effectLst>
                  <a:outerShdw blurRad="38100" dist="38100" dir="2700000" algn="tl">
                    <a:srgbClr val="000000">
                      <a:alpha val="43137"/>
                    </a:srgbClr>
                  </a:outerShdw>
                </a:effectLst>
                <a:latin typeface="Algerian" panose="04020705040A02060702" pitchFamily="82" charset="0"/>
              </a:rPr>
              <a:t>2 TYPES OF REAL TIME OPERATING SYSTEM</a:t>
            </a:r>
            <a:endParaRPr lang="en-IN" i="1" dirty="0">
              <a:effectLst>
                <a:outerShdw blurRad="38100" dist="38100" dir="2700000" algn="tl">
                  <a:srgbClr val="000000">
                    <a:alpha val="43137"/>
                  </a:srgbClr>
                </a:outerShdw>
              </a:effectLst>
              <a:latin typeface="Algerian" panose="04020705040A02060702" pitchFamily="82" charset="0"/>
            </a:endParaRPr>
          </a:p>
        </p:txBody>
      </p:sp>
      <p:sp>
        <p:nvSpPr>
          <p:cNvPr id="7" name="Text Placeholder 6">
            <a:extLst>
              <a:ext uri="{FF2B5EF4-FFF2-40B4-BE49-F238E27FC236}">
                <a16:creationId xmlns:a16="http://schemas.microsoft.com/office/drawing/2014/main" id="{E26C253D-5994-F872-D02A-E85F2F7BBD52}"/>
              </a:ext>
            </a:extLst>
          </p:cNvPr>
          <p:cNvSpPr>
            <a:spLocks noGrp="1"/>
          </p:cNvSpPr>
          <p:nvPr>
            <p:ph type="body" idx="1"/>
          </p:nvPr>
        </p:nvSpPr>
        <p:spPr>
          <a:xfrm>
            <a:off x="254703" y="1288026"/>
            <a:ext cx="11730820" cy="4798142"/>
          </a:xfrm>
        </p:spPr>
        <p:txBody>
          <a:bodyPr/>
          <a:lstStyle/>
          <a:p>
            <a:pPr lvl="0"/>
            <a:r>
              <a:rPr lang="en-US" dirty="0"/>
              <a:t>a. 	Hard real-time systems</a:t>
            </a:r>
            <a:endParaRPr lang="en-IN" b="1" dirty="0"/>
          </a:p>
          <a:p>
            <a:r>
              <a:rPr lang="en-US" dirty="0"/>
              <a:t>Hard real-time systems guarantee that critical tasks complete on time. In hard real-time systems, secondary storage is limited or missing and the data is stored in ROM. In these systems, virtual memory is almost never found.</a:t>
            </a:r>
            <a:endParaRPr lang="en-IN" dirty="0"/>
          </a:p>
          <a:p>
            <a:r>
              <a:rPr lang="en-US" dirty="0"/>
              <a:t> In Real-Time Systems, each job carries a certain deadline within which the job is supposed to be completed, otherwise, the huge loss will be there, or even if the result is produced, it will be completely useless.</a:t>
            </a:r>
            <a:endParaRPr lang="en-IN" dirty="0"/>
          </a:p>
          <a:p>
            <a:pPr lvl="0"/>
            <a:r>
              <a:rPr lang="en-US" dirty="0"/>
              <a:t>b.	Soft real-time systems</a:t>
            </a:r>
            <a:endParaRPr lang="en-IN" b="1" dirty="0"/>
          </a:p>
          <a:p>
            <a:r>
              <a:rPr lang="en-US" dirty="0"/>
              <a:t>Soft real-time systems are less restrictive. A critical real-time task gets priority over other tasks and retains the priority until it completes. Soft real-time systems have limited utility than hard real-time systems. For example, multimedia, virtual reality, Advanced Scientific Projects like undersea exploration and planetary rovers, etc.</a:t>
            </a:r>
            <a:endParaRPr lang="en-IN" dirty="0"/>
          </a:p>
          <a:p>
            <a:endParaRPr lang="en-IN" dirty="0"/>
          </a:p>
        </p:txBody>
      </p:sp>
    </p:spTree>
    <p:extLst>
      <p:ext uri="{BB962C8B-B14F-4D97-AF65-F5344CB8AC3E}">
        <p14:creationId xmlns:p14="http://schemas.microsoft.com/office/powerpoint/2010/main" val="309482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328469-6402-C39E-C20B-37EBBF800745}"/>
              </a:ext>
            </a:extLst>
          </p:cNvPr>
          <p:cNvSpPr txBox="1"/>
          <p:nvPr/>
        </p:nvSpPr>
        <p:spPr>
          <a:xfrm>
            <a:off x="147484" y="2792363"/>
            <a:ext cx="11729884" cy="2890343"/>
          </a:xfrm>
          <a:prstGeom prst="rect">
            <a:avLst/>
          </a:prstGeom>
          <a:noFill/>
        </p:spPr>
        <p:txBody>
          <a:bodyPr wrap="square">
            <a:spAutoFit/>
          </a:bodyPr>
          <a:lstStyle/>
          <a:p>
            <a:pPr algn="just">
              <a:lnSpc>
                <a:spcPts val="1560"/>
              </a:lnSpc>
              <a:spcBef>
                <a:spcPts val="1000"/>
              </a:spcBef>
              <a:buNone/>
            </a:pPr>
            <a:r>
              <a:rPr lang="en-US" sz="24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Real-time operating system:</a:t>
            </a:r>
          </a:p>
          <a:p>
            <a:pPr algn="just">
              <a:lnSpc>
                <a:spcPts val="1560"/>
              </a:lnSpc>
              <a:spcBef>
                <a:spcPts val="1000"/>
              </a:spcBef>
              <a:buNone/>
            </a:pPr>
            <a:endParaRPr lang="en-IN" sz="24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Easy to layout, develop and execute real-time applications under the real-time operating system.</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a Real-time operating system, the maximum utilization of devices and systems.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1560"/>
              </a:lnSpc>
              <a:spcBef>
                <a:spcPts val="1000"/>
              </a:spcBef>
              <a:buNone/>
            </a:pPr>
            <a:r>
              <a:rPr lang="en-US" sz="24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Real-time operating system</a:t>
            </a:r>
            <a:r>
              <a:rPr lang="en-US" sz="2400"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ts val="1560"/>
              </a:lnSpc>
              <a:spcBef>
                <a:spcPts val="1000"/>
              </a:spcBef>
              <a:buNone/>
            </a:pPr>
            <a:endParaRPr lang="en-IN" sz="24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Real-time operating systems are very costly to develop.</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Real-time operating systems are very complex and can consume critical CPU cycles.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B6F1AE45-26C2-D84B-BEBF-3972CDBF6FB8}"/>
              </a:ext>
            </a:extLst>
          </p:cNvPr>
          <p:cNvSpPr txBox="1"/>
          <p:nvPr/>
        </p:nvSpPr>
        <p:spPr>
          <a:xfrm>
            <a:off x="147484" y="723011"/>
            <a:ext cx="11491452" cy="1200329"/>
          </a:xfrm>
          <a:prstGeom prst="rect">
            <a:avLst/>
          </a:prstGeom>
          <a:noFill/>
        </p:spPr>
        <p:txBody>
          <a:bodyPr wrap="square">
            <a:spAutoFit/>
          </a:bodyPr>
          <a:lstStyle/>
          <a:p>
            <a:pPr algn="just">
              <a:buNone/>
            </a:pPr>
            <a:r>
              <a:rPr lang="en-US" sz="1800" b="1" i="1" u="sng" dirty="0">
                <a:solidFill>
                  <a:srgbClr val="000000"/>
                </a:solidFill>
                <a:effectLst/>
                <a:latin typeface="Sitka Text" pitchFamily="2" charset="0"/>
                <a:ea typeface="Times New Roman" panose="02020603050405020304" pitchFamily="18" charset="0"/>
              </a:rPr>
              <a:t>Example:-</a:t>
            </a:r>
          </a:p>
          <a:p>
            <a:pPr algn="just">
              <a:buNone/>
            </a:pPr>
            <a:endParaRPr lang="en-US" b="1" i="1" u="sng" dirty="0">
              <a:solidFill>
                <a:srgbClr val="000000"/>
              </a:solidFill>
              <a:latin typeface="Sitka Text" pitchFamily="2" charset="0"/>
              <a:ea typeface="Times New Roman" panose="02020603050405020304" pitchFamily="18" charset="0"/>
            </a:endParaRPr>
          </a:p>
          <a:p>
            <a:pPr algn="just">
              <a:buNone/>
            </a:pPr>
            <a:r>
              <a:rPr lang="en-US" sz="1800" b="1" i="1" u="sng" dirty="0">
                <a:solidFill>
                  <a:srgbClr val="000000"/>
                </a:solidFill>
                <a:effectLst/>
                <a:latin typeface="Sitka Text" pitchFamily="2" charset="0"/>
                <a:ea typeface="Times New Roman" panose="02020603050405020304" pitchFamily="18" charset="0"/>
              </a:rPr>
              <a:t>The Application of a Real-Time system exists in the case of military applications, if you want to drop a missile, then the missile is supposed to be dropped with a certain precision.</a:t>
            </a:r>
            <a:endParaRPr lang="en-IN" sz="1800" b="1" i="1" u="sng" dirty="0">
              <a:effectLst/>
              <a:latin typeface="Sitka Text" pitchFamily="2" charset="0"/>
              <a:ea typeface="Times New Roman" panose="02020603050405020304" pitchFamily="18" charset="0"/>
            </a:endParaRPr>
          </a:p>
        </p:txBody>
      </p:sp>
    </p:spTree>
    <p:extLst>
      <p:ext uri="{BB962C8B-B14F-4D97-AF65-F5344CB8AC3E}">
        <p14:creationId xmlns:p14="http://schemas.microsoft.com/office/powerpoint/2010/main" val="1042196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8A638E7-D8CF-7DC9-7887-351991D1BCD4}"/>
              </a:ext>
            </a:extLst>
          </p:cNvPr>
          <p:cNvSpPr>
            <a:spLocks noChangeArrowheads="1"/>
          </p:cNvSpPr>
          <p:nvPr/>
        </p:nvSpPr>
        <p:spPr bwMode="auto">
          <a:xfrm>
            <a:off x="0" y="465867"/>
            <a:ext cx="8799871"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8.</a:t>
            </a:r>
            <a:r>
              <a:rPr kumimoji="0" lang="en-US" altLang="en-US" sz="1800" b="1" i="0" u="none" strike="noStrike" cap="none" normalizeH="0" baseline="0" dirty="0">
                <a:ln>
                  <a:noFill/>
                </a:ln>
                <a:solidFill>
                  <a:schemeClr val="tx1"/>
                </a:solidFill>
                <a:effectLst/>
                <a:latin typeface="Arial" panose="020B0604020202020204" pitchFamily="34" charset="0"/>
              </a:rPr>
              <a:t> Time-Sharing Operating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Time-sharing is a technique where multiple users at different terminals can use a computer system simultaneously. It is an extension of </a:t>
            </a:r>
            <a:r>
              <a:rPr kumimoji="0" lang="en-US" altLang="en-US" sz="1800" b="1" i="0" u="none" strike="noStrike" cap="none" normalizeH="0" baseline="0" dirty="0">
                <a:ln>
                  <a:noFill/>
                </a:ln>
                <a:solidFill>
                  <a:schemeClr val="tx1"/>
                </a:solidFill>
                <a:effectLst/>
                <a:latin typeface="Arial" panose="020B0604020202020204" pitchFamily="34" charset="0"/>
              </a:rPr>
              <a:t>multiprogramming</a:t>
            </a:r>
            <a:r>
              <a:rPr kumimoji="0" lang="en-US" altLang="en-US" sz="1800" b="0" i="0" u="none" strike="noStrike" cap="none" normalizeH="0" baseline="0" dirty="0">
                <a:ln>
                  <a:noFill/>
                </a:ln>
                <a:solidFill>
                  <a:schemeClr val="tx1"/>
                </a:solidFill>
                <a:effectLst/>
                <a:latin typeface="Arial" panose="020B0604020202020204" pitchFamily="34" charset="0"/>
              </a:rPr>
              <a:t> and enables </a:t>
            </a:r>
            <a:r>
              <a:rPr kumimoji="0" lang="en-US" altLang="en-US" sz="1800" b="1" i="0" u="none" strike="noStrike" cap="none" normalizeH="0" baseline="0" dirty="0">
                <a:ln>
                  <a:noFill/>
                </a:ln>
                <a:solidFill>
                  <a:schemeClr val="tx1"/>
                </a:solidFill>
                <a:effectLst/>
                <a:latin typeface="Arial" panose="020B0604020202020204" pitchFamily="34" charset="0"/>
              </a:rPr>
              <a:t>multitasking</a:t>
            </a:r>
            <a:r>
              <a:rPr kumimoji="0" lang="en-US" altLang="en-US" sz="1800" b="0" i="0" u="none" strike="noStrike" cap="none" normalizeH="0" baseline="0" dirty="0">
                <a:ln>
                  <a:noFill/>
                </a:ln>
                <a:solidFill>
                  <a:schemeClr val="tx1"/>
                </a:solidFill>
                <a:effectLst/>
                <a:latin typeface="Arial" panose="020B0604020202020204" pitchFamily="34" charset="0"/>
              </a:rPr>
              <a:t>. The CPU time is divided among several users in small time slices or </a:t>
            </a:r>
            <a:r>
              <a:rPr kumimoji="0" lang="en-US" altLang="en-US" sz="1800" b="1" i="0" u="none" strike="noStrike" cap="none" normalizeH="0" baseline="0" dirty="0">
                <a:ln>
                  <a:noFill/>
                </a:ln>
                <a:solidFill>
                  <a:schemeClr val="tx1"/>
                </a:solidFill>
                <a:effectLst/>
                <a:latin typeface="Arial" panose="020B0604020202020204" pitchFamily="34" charset="0"/>
              </a:rPr>
              <a:t>quanta</a:t>
            </a:r>
            <a:r>
              <a:rPr kumimoji="0" lang="en-US" altLang="en-US" sz="1800" b="0" i="0" u="none" strike="noStrike" cap="none" normalizeH="0" baseline="0" dirty="0">
                <a:ln>
                  <a:noFill/>
                </a:ln>
                <a:solidFill>
                  <a:schemeClr val="tx1"/>
                </a:solidFill>
                <a:effectLst/>
                <a:latin typeface="Arial" panose="020B0604020202020204" pitchFamily="34" charset="0"/>
              </a:rPr>
              <a:t>, allowing for rapid switching between tasks.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Points: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Objective:</a:t>
            </a:r>
            <a:r>
              <a:rPr kumimoji="0" lang="en-US" altLang="en-US" sz="1800" b="0" i="0" u="none" strike="noStrike" cap="none" normalizeH="0" baseline="0" dirty="0">
                <a:ln>
                  <a:noFill/>
                </a:ln>
                <a:solidFill>
                  <a:schemeClr val="tx1"/>
                </a:solidFill>
                <a:effectLst/>
                <a:latin typeface="Arial" panose="020B0604020202020204" pitchFamily="34" charset="0"/>
              </a:rPr>
              <a:t> To minimize response time and provide interactive computing.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CPU Scheduling:</a:t>
            </a:r>
            <a:r>
              <a:rPr kumimoji="0" lang="en-US" altLang="en-US" sz="1800" b="0" i="0" u="none" strike="noStrike" cap="none" normalizeH="0" baseline="0" dirty="0">
                <a:ln>
                  <a:noFill/>
                </a:ln>
                <a:solidFill>
                  <a:schemeClr val="tx1"/>
                </a:solidFill>
                <a:effectLst/>
                <a:latin typeface="Arial" panose="020B0604020202020204" pitchFamily="34" charset="0"/>
              </a:rPr>
              <a:t> OS schedules each user for a small time slice.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Quick Response:</a:t>
            </a:r>
            <a:r>
              <a:rPr kumimoji="0" lang="en-US" altLang="en-US" sz="1800" b="0" i="0" u="none" strike="noStrike" cap="none" normalizeH="0" baseline="0" dirty="0">
                <a:ln>
                  <a:noFill/>
                </a:ln>
                <a:solidFill>
                  <a:schemeClr val="tx1"/>
                </a:solidFill>
                <a:effectLst/>
                <a:latin typeface="Arial" panose="020B0604020202020204" pitchFamily="34" charset="0"/>
              </a:rPr>
              <a:t> Users receive output in seconds, making it feel like exclusive use of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Difference from Batch Systems:</a:t>
            </a:r>
            <a:r>
              <a:rPr kumimoji="0" lang="en-US" altLang="en-US" sz="1800" b="0" i="0" u="none" strike="noStrike" cap="none" normalizeH="0" baseline="0" dirty="0">
                <a:ln>
                  <a:noFill/>
                </a:ln>
                <a:solidFill>
                  <a:schemeClr val="tx1"/>
                </a:solidFill>
                <a:effectLst/>
                <a:latin typeface="Arial" panose="020B0604020202020204" pitchFamily="34" charset="0"/>
              </a:rPr>
              <a:t> Batch systems aim to maximize CPU usage, while time-sharing aims to reduce user wait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Used in transaction processing, where user commands are executed with minimal delay.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Modern Use:</a:t>
            </a:r>
            <a:r>
              <a:rPr kumimoji="0" lang="en-US" altLang="en-US" sz="1800" b="0" i="0" u="none" strike="noStrike" cap="none" normalizeH="0" baseline="0" dirty="0">
                <a:ln>
                  <a:noFill/>
                </a:ln>
                <a:solidFill>
                  <a:schemeClr val="tx1"/>
                </a:solidFill>
                <a:effectLst/>
                <a:latin typeface="Arial" panose="020B0604020202020204" pitchFamily="34" charset="0"/>
              </a:rPr>
              <a:t> Older batch systems were adapted into time-sharing systems.</a:t>
            </a:r>
          </a:p>
          <a:p>
            <a:pPr marL="0" marR="0" lvl="0" indent="0" algn="l" defTabSz="914400" rtl="0" eaLnBrk="0" fontAlgn="base" latinLnBrk="0" hangingPunct="0">
              <a:lnSpc>
                <a:spcPct val="100000"/>
              </a:lnSpc>
              <a:spcBef>
                <a:spcPct val="0"/>
              </a:spcBef>
              <a:spcAft>
                <a:spcPct val="0"/>
              </a:spcAft>
              <a:buClrTx/>
              <a:buSzTx/>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Time-sharing OS allows concurrent user interaction by allocating CPU time efficiently, making computing resources accessible to many users at once.</a:t>
            </a:r>
          </a:p>
        </p:txBody>
      </p:sp>
      <p:pic>
        <p:nvPicPr>
          <p:cNvPr id="6" name="Picture 5" descr="Real Time Operating System">
            <a:extLst>
              <a:ext uri="{FF2B5EF4-FFF2-40B4-BE49-F238E27FC236}">
                <a16:creationId xmlns:a16="http://schemas.microsoft.com/office/drawing/2014/main" id="{B0BD161C-DF46-1C2D-CAC8-E32EEC089E81}"/>
              </a:ext>
            </a:extLst>
          </p:cNvPr>
          <p:cNvPicPr>
            <a:picLocks noChangeAspect="1"/>
          </p:cNvPicPr>
          <p:nvPr/>
        </p:nvPicPr>
        <p:blipFill>
          <a:blip r:embed="rId2"/>
          <a:srcRect/>
          <a:stretch>
            <a:fillRect/>
          </a:stretch>
        </p:blipFill>
        <p:spPr bwMode="auto">
          <a:xfrm>
            <a:off x="8006818" y="1036821"/>
            <a:ext cx="4086860" cy="3808730"/>
          </a:xfrm>
          <a:prstGeom prst="rect">
            <a:avLst/>
          </a:prstGeom>
          <a:noFill/>
          <a:ln w="9525">
            <a:noFill/>
            <a:miter lim="800000"/>
            <a:headEnd/>
            <a:tailEnd/>
          </a:ln>
        </p:spPr>
      </p:pic>
    </p:spTree>
    <p:extLst>
      <p:ext uri="{BB962C8B-B14F-4D97-AF65-F5344CB8AC3E}">
        <p14:creationId xmlns:p14="http://schemas.microsoft.com/office/powerpoint/2010/main" val="395224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98A686-15F2-134A-FE46-4798AA414710}"/>
              </a:ext>
            </a:extLst>
          </p:cNvPr>
          <p:cNvSpPr txBox="1"/>
          <p:nvPr/>
        </p:nvSpPr>
        <p:spPr>
          <a:xfrm>
            <a:off x="0" y="184122"/>
            <a:ext cx="12074013" cy="5468420"/>
          </a:xfrm>
          <a:prstGeom prst="rect">
            <a:avLst/>
          </a:prstGeom>
          <a:noFill/>
        </p:spPr>
        <p:txBody>
          <a:bodyPr wrap="square">
            <a:spAutoFit/>
          </a:bodyPr>
          <a:lstStyle/>
          <a:p>
            <a:pPr algn="just">
              <a:lnSpc>
                <a:spcPts val="1560"/>
              </a:lnSpc>
              <a:spcBef>
                <a:spcPts val="1000"/>
              </a:spcBef>
              <a:buNone/>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Advantages of Time Sharing Operating System</a:t>
            </a:r>
          </a:p>
          <a:p>
            <a:pPr algn="just">
              <a:lnSpc>
                <a:spcPts val="1560"/>
              </a:lnSpc>
              <a:spcBef>
                <a:spcPts val="1000"/>
              </a:spcBef>
              <a:buNone/>
            </a:pP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Font typeface="Courier New" panose="02070309020205020404" pitchFamily="49" charset="0"/>
              <a:buChar char="o"/>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time-sharing operating system provides effective utilization and sharing of resources.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Font typeface="Courier New" panose="02070309020205020404" pitchFamily="49" charset="0"/>
              <a:buChar char="o"/>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system reduces CPU idle and response time.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Provides the advantage of quick response.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Avoids duplication of software.</a:t>
            </a:r>
            <a:endParaRPr lang="en-US"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ts val="1560"/>
              </a:lnSpc>
              <a:spcBef>
                <a:spcPts val="1000"/>
              </a:spcBef>
              <a:buFont typeface="Arial" panose="020B0604020202020204" pitchFamily="34" charset="0"/>
              <a:buChar char="•"/>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Time Sharing Operating System</a:t>
            </a:r>
            <a:endParaRPr lang="en-US"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ts val="1560"/>
              </a:lnSpc>
              <a:spcBef>
                <a:spcPts val="1000"/>
              </a:spcBef>
              <a:buFont typeface="Arial" panose="020B0604020202020204" pitchFamily="34" charset="0"/>
              <a:buChar char="•"/>
            </a:pP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Font typeface="Courier New" panose="02070309020205020404" pitchFamily="49" charset="0"/>
              <a:buChar char="o"/>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 transmission rates are very high in comparison to other methods.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Font typeface="Courier New" panose="02070309020205020404" pitchFamily="49" charset="0"/>
              <a:buChar char="o"/>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Security and integrity of user programs loaded in memory and data need to be maintained as many users access the system at the same time.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Problem of reliability.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Font typeface="Courier New" panose="02070309020205020404" pitchFamily="49" charset="0"/>
              <a:buChar char="o"/>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Question of security and integrity of user programs and data.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Font typeface="Courier New" panose="02070309020205020404" pitchFamily="49" charset="0"/>
              <a:buChar char="o"/>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Problem of data communication</a:t>
            </a:r>
          </a:p>
          <a:p>
            <a:pPr marL="342900" lvl="0" indent="-342900" algn="just">
              <a:lnSpc>
                <a:spcPts val="1565"/>
              </a:lnSpc>
              <a:spcBef>
                <a:spcPts val="250"/>
              </a:spcBef>
              <a:spcAft>
                <a:spcPts val="1000"/>
              </a:spcAft>
              <a:buFont typeface="Courier New" panose="02070309020205020404" pitchFamily="49" charset="0"/>
              <a:buChar char="o"/>
            </a:pPr>
            <a:r>
              <a:rPr lang="en-US" dirty="0"/>
              <a:t>A time-sharing operating system allows many users to be served simultaneously, so sophisticated CPU scheduling schemes and Input/output management are required, So Time-sharing operating systems are very difficult and expensive to build</a:t>
            </a:r>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Font typeface="Courier New" panose="02070309020205020404" pitchFamily="49" charset="0"/>
              <a:buChar char="o"/>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2637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60DDF7-0984-EB3B-1988-CDF71807FA6E}"/>
              </a:ext>
            </a:extLst>
          </p:cNvPr>
          <p:cNvSpPr>
            <a:spLocks noChangeArrowheads="1"/>
          </p:cNvSpPr>
          <p:nvPr/>
        </p:nvSpPr>
        <p:spPr bwMode="auto">
          <a:xfrm>
            <a:off x="0" y="443012"/>
            <a:ext cx="8121445" cy="4878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600" b="1" i="0" u="none" strike="noStrike" cap="none" normalizeH="0" baseline="0" dirty="0">
                <a:ln>
                  <a:noFill/>
                </a:ln>
                <a:solidFill>
                  <a:schemeClr val="tx1"/>
                </a:solidFill>
                <a:effectLst/>
                <a:latin typeface="Arial" panose="020B0604020202020204" pitchFamily="34" charset="0"/>
              </a:rPr>
              <a:t>Distributed Operating System </a:t>
            </a:r>
          </a:p>
          <a:p>
            <a:pPr marR="0" lvl="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Distributed systems use </a:t>
            </a:r>
            <a:r>
              <a:rPr kumimoji="0" lang="en-US" altLang="en-US" sz="1600" b="1" i="0" u="none" strike="noStrike" cap="none" normalizeH="0" baseline="0" dirty="0">
                <a:ln>
                  <a:noFill/>
                </a:ln>
                <a:solidFill>
                  <a:schemeClr val="tx1"/>
                </a:solidFill>
                <a:effectLst/>
                <a:latin typeface="Arial" panose="020B0604020202020204" pitchFamily="34" charset="0"/>
              </a:rPr>
              <a:t>multiple</a:t>
            </a:r>
            <a:r>
              <a:rPr kumimoji="0" lang="en-US" altLang="en-US" sz="1800" b="1" i="0" u="none" strike="noStrike" cap="none" normalizeH="0" baseline="0" dirty="0">
                <a:ln>
                  <a:noFill/>
                </a:ln>
                <a:solidFill>
                  <a:schemeClr val="tx1"/>
                </a:solidFill>
                <a:effectLst/>
                <a:latin typeface="Arial" panose="020B0604020202020204" pitchFamily="34" charset="0"/>
              </a:rPr>
              <a:t> central processors</a:t>
            </a:r>
            <a:r>
              <a:rPr kumimoji="0" lang="en-US" altLang="en-US" sz="1800" b="0" i="0" u="none" strike="noStrike" cap="none" normalizeH="0" baseline="0" dirty="0">
                <a:ln>
                  <a:noFill/>
                </a:ln>
                <a:solidFill>
                  <a:schemeClr val="tx1"/>
                </a:solidFill>
                <a:effectLst/>
                <a:latin typeface="Arial" panose="020B0604020202020204" pitchFamily="34" charset="0"/>
              </a:rPr>
              <a:t> to serve multiple </a:t>
            </a:r>
            <a:r>
              <a:rPr kumimoji="0" lang="en-US" altLang="en-US" sz="1800" b="1" i="0" u="none" strike="noStrike" cap="none" normalizeH="0" baseline="0" dirty="0">
                <a:ln>
                  <a:noFill/>
                </a:ln>
                <a:solidFill>
                  <a:schemeClr val="tx1"/>
                </a:solidFill>
                <a:effectLst/>
                <a:latin typeface="Arial" panose="020B0604020202020204" pitchFamily="34" charset="0"/>
              </a:rPr>
              <a:t>real-time applications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multiple users</a:t>
            </a:r>
            <a:r>
              <a:rPr kumimoji="0" lang="en-US" altLang="en-US" sz="1800" b="0" i="0" u="none" strike="noStrike" cap="none" normalizeH="0" baseline="0" dirty="0">
                <a:ln>
                  <a:noFill/>
                </a:ln>
                <a:solidFill>
                  <a:schemeClr val="tx1"/>
                </a:solidFill>
                <a:effectLst/>
                <a:latin typeface="Arial" panose="020B0604020202020204" pitchFamily="34" charset="0"/>
              </a:rPr>
              <a:t>. Data processing jobs are </a:t>
            </a:r>
            <a:r>
              <a:rPr kumimoji="0" lang="en-US" altLang="en-US" sz="1800" b="1" i="0" u="none" strike="noStrike" cap="none" normalizeH="0" baseline="0" dirty="0">
                <a:ln>
                  <a:noFill/>
                </a:ln>
                <a:solidFill>
                  <a:schemeClr val="tx1"/>
                </a:solidFill>
                <a:effectLst/>
                <a:latin typeface="Arial" panose="020B0604020202020204" pitchFamily="34" charset="0"/>
              </a:rPr>
              <a:t>distributed among the processors</a:t>
            </a:r>
            <a:r>
              <a:rPr kumimoji="0" lang="en-US" altLang="en-US" sz="1800" b="0" i="0" u="none" strike="noStrike" cap="none" normalizeH="0" baseline="0" dirty="0">
                <a:ln>
                  <a:noFill/>
                </a:ln>
                <a:solidFill>
                  <a:schemeClr val="tx1"/>
                </a:solidFill>
                <a:effectLst/>
                <a:latin typeface="Arial" panose="020B0604020202020204" pitchFamily="34" charset="0"/>
              </a:rPr>
              <a:t> accordingly.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processors </a:t>
            </a:r>
            <a:r>
              <a:rPr kumimoji="0" lang="en-US" altLang="en-US" sz="1800" b="1" i="0" u="none" strike="noStrike" cap="none" normalizeH="0" baseline="0" dirty="0">
                <a:ln>
                  <a:noFill/>
                </a:ln>
                <a:solidFill>
                  <a:schemeClr val="tx1"/>
                </a:solidFill>
                <a:effectLst/>
                <a:latin typeface="Arial" panose="020B0604020202020204" pitchFamily="34" charset="0"/>
              </a:rPr>
              <a:t>communicate with one another</a:t>
            </a:r>
            <a:r>
              <a:rPr kumimoji="0" lang="en-US" altLang="en-US" sz="1800" b="0" i="0" u="none" strike="noStrike" cap="none" normalizeH="0" baseline="0" dirty="0">
                <a:ln>
                  <a:noFill/>
                </a:ln>
                <a:solidFill>
                  <a:schemeClr val="tx1"/>
                </a:solidFill>
                <a:effectLst/>
                <a:latin typeface="Arial" panose="020B0604020202020204" pitchFamily="34" charset="0"/>
              </a:rPr>
              <a:t> through various communication lines (such as </a:t>
            </a:r>
            <a:r>
              <a:rPr kumimoji="0" lang="en-US" altLang="en-US" sz="1800" b="1" i="0" u="none" strike="noStrike" cap="none" normalizeH="0" baseline="0" dirty="0">
                <a:ln>
                  <a:noFill/>
                </a:ln>
                <a:solidFill>
                  <a:schemeClr val="tx1"/>
                </a:solidFill>
                <a:effectLst/>
                <a:latin typeface="Arial" panose="020B0604020202020204" pitchFamily="34" charset="0"/>
              </a:rPr>
              <a:t>high-speed buses</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telephone lines</a:t>
            </a:r>
            <a:r>
              <a:rPr kumimoji="0" lang="en-US" altLang="en-US" sz="1800" b="0" i="0" u="none" strike="noStrike" cap="none" normalizeH="0" baseline="0" dirty="0">
                <a:ln>
                  <a:noFill/>
                </a:ln>
                <a:solidFill>
                  <a:schemeClr val="tx1"/>
                </a:solidFill>
                <a:effectLst/>
                <a:latin typeface="Arial" panose="020B0604020202020204" pitchFamily="34" charset="0"/>
              </a:rPr>
              <a:t>). These are referred to as </a:t>
            </a:r>
            <a:r>
              <a:rPr kumimoji="0" lang="en-US" altLang="en-US" sz="1800" b="1" i="0" u="none" strike="noStrike" cap="none" normalizeH="0" baseline="0" dirty="0">
                <a:ln>
                  <a:noFill/>
                </a:ln>
                <a:solidFill>
                  <a:schemeClr val="tx1"/>
                </a:solidFill>
                <a:effectLst/>
                <a:latin typeface="Arial" panose="020B0604020202020204" pitchFamily="34" charset="0"/>
              </a:rPr>
              <a:t>loosely coupled systems</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distributed systems</a:t>
            </a:r>
            <a:r>
              <a:rPr kumimoji="0" lang="en-US" altLang="en-US" sz="1800" b="0" i="0" u="none" strike="noStrike" cap="none" normalizeH="0" baseline="0" dirty="0">
                <a:ln>
                  <a:noFill/>
                </a:ln>
                <a:solidFill>
                  <a:schemeClr val="tx1"/>
                </a:solidFill>
                <a:effectLst/>
                <a:latin typeface="Arial" panose="020B0604020202020204" pitchFamily="34" charset="0"/>
              </a:rPr>
              <a:t>. Processors in a distributed system may </a:t>
            </a:r>
            <a:r>
              <a:rPr kumimoji="0" lang="en-US" altLang="en-US" sz="1800" b="1" i="0" u="none" strike="noStrike" cap="none" normalizeH="0" baseline="0" dirty="0">
                <a:ln>
                  <a:noFill/>
                </a:ln>
                <a:solidFill>
                  <a:schemeClr val="tx1"/>
                </a:solidFill>
                <a:effectLst/>
                <a:latin typeface="Arial" panose="020B0604020202020204" pitchFamily="34" charset="0"/>
              </a:rPr>
              <a:t>vary in size and function</a:t>
            </a:r>
            <a:r>
              <a:rPr kumimoji="0" lang="en-US" altLang="en-US" sz="1800" b="0" i="0" u="none" strike="noStrike" cap="none" normalizeH="0" baseline="0" dirty="0">
                <a:ln>
                  <a:noFill/>
                </a:ln>
                <a:solidFill>
                  <a:schemeClr val="tx1"/>
                </a:solidFill>
                <a:effectLst/>
                <a:latin typeface="Arial" panose="020B0604020202020204" pitchFamily="34" charset="0"/>
              </a:rPr>
              <a:t>. These processors are referred to as </a:t>
            </a:r>
            <a:r>
              <a:rPr kumimoji="0" lang="en-US" altLang="en-US" sz="1800" b="1" i="0" u="none" strike="noStrike" cap="none" normalizeH="0" baseline="0" dirty="0">
                <a:ln>
                  <a:noFill/>
                </a:ln>
                <a:solidFill>
                  <a:schemeClr val="tx1"/>
                </a:solidFill>
                <a:effectLst/>
                <a:latin typeface="Arial" panose="020B0604020202020204" pitchFamily="34" charset="0"/>
              </a:rPr>
              <a:t>sites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nodes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computers</a:t>
            </a:r>
            <a:r>
              <a:rPr kumimoji="0" lang="en-US" altLang="en-US" sz="1800" b="0" i="0" u="none" strike="noStrike" cap="none" normalizeH="0" baseline="0" dirty="0">
                <a:ln>
                  <a:noFill/>
                </a:ln>
                <a:solidFill>
                  <a:schemeClr val="tx1"/>
                </a:solidFill>
                <a:effectLst/>
                <a:latin typeface="Arial" panose="020B0604020202020204" pitchFamily="34" charset="0"/>
              </a:rPr>
              <a:t>, and so 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Distributed Operating System</a:t>
            </a:r>
            <a:r>
              <a:rPr kumimoji="0" lang="en-US" altLang="en-US" sz="1800" b="0" i="0" u="none" strike="noStrike" cap="none" normalizeH="0" baseline="0" dirty="0">
                <a:ln>
                  <a:noFill/>
                </a:ln>
                <a:solidFill>
                  <a:schemeClr val="tx1"/>
                </a:solidFill>
                <a:effectLst/>
                <a:latin typeface="Arial" panose="020B0604020202020204" pitchFamily="34" charset="0"/>
              </a:rPr>
              <a:t> is </a:t>
            </a:r>
            <a:r>
              <a:rPr kumimoji="0" lang="en-US" altLang="en-US" sz="1800" b="1" i="0" u="none" strike="noStrike" cap="none" normalizeH="0" baseline="0" dirty="0">
                <a:ln>
                  <a:noFill/>
                </a:ln>
                <a:solidFill>
                  <a:schemeClr val="tx1"/>
                </a:solidFill>
                <a:effectLst/>
                <a:latin typeface="Arial" panose="020B0604020202020204" pitchFamily="34" charset="0"/>
              </a:rPr>
              <a:t>not installed on a single machine</a:t>
            </a:r>
            <a:r>
              <a:rPr kumimoji="0" lang="en-US" altLang="en-US" sz="1800" b="0" i="0" u="none" strike="noStrike" cap="none" normalizeH="0" baseline="0" dirty="0">
                <a:ln>
                  <a:noFill/>
                </a:ln>
                <a:solidFill>
                  <a:schemeClr val="tx1"/>
                </a:solidFill>
                <a:effectLst/>
                <a:latin typeface="Arial" panose="020B0604020202020204" pitchFamily="34" charset="0"/>
              </a:rPr>
              <a:t>. It is </a:t>
            </a:r>
            <a:r>
              <a:rPr kumimoji="0" lang="en-US" altLang="en-US" sz="1800" b="1" i="0" u="none" strike="noStrike" cap="none" normalizeH="0" baseline="0" dirty="0">
                <a:ln>
                  <a:noFill/>
                </a:ln>
                <a:solidFill>
                  <a:schemeClr val="tx1"/>
                </a:solidFill>
                <a:effectLst/>
                <a:latin typeface="Arial" panose="020B0604020202020204" pitchFamily="34" charset="0"/>
              </a:rPr>
              <a:t>divided into parts</a:t>
            </a:r>
            <a:r>
              <a:rPr kumimoji="0" lang="en-US" altLang="en-US" sz="1800" b="0" i="0" u="none" strike="noStrike" cap="none" normalizeH="0" baseline="0" dirty="0">
                <a:ln>
                  <a:noFill/>
                </a:ln>
                <a:solidFill>
                  <a:schemeClr val="tx1"/>
                </a:solidFill>
                <a:effectLst/>
                <a:latin typeface="Arial" panose="020B0604020202020204" pitchFamily="34" charset="0"/>
              </a:rPr>
              <a:t>, and these parts are </a:t>
            </a:r>
            <a:r>
              <a:rPr kumimoji="0" lang="en-US" altLang="en-US" sz="1800" b="1" i="0" u="none" strike="noStrike" cap="none" normalizeH="0" baseline="0" dirty="0">
                <a:ln>
                  <a:noFill/>
                </a:ln>
                <a:solidFill>
                  <a:schemeClr val="tx1"/>
                </a:solidFill>
                <a:effectLst/>
                <a:latin typeface="Arial" panose="020B0604020202020204" pitchFamily="34" charset="0"/>
              </a:rPr>
              <a:t>loaded on different machines</a:t>
            </a:r>
            <a:r>
              <a:rPr kumimoji="0" lang="en-US" altLang="en-US" sz="1800" b="0" i="0" u="none" strike="noStrike" cap="none" normalizeH="0" baseline="0" dirty="0">
                <a:ln>
                  <a:noFill/>
                </a:ln>
                <a:solidFill>
                  <a:schemeClr val="tx1"/>
                </a:solidFill>
                <a:effectLst/>
                <a:latin typeface="Arial" panose="020B0604020202020204" pitchFamily="34" charset="0"/>
              </a:rPr>
              <a:t>. A part of the distributed operating system is installed on each machine to </a:t>
            </a:r>
            <a:r>
              <a:rPr kumimoji="0" lang="en-US" altLang="en-US" sz="1800" b="1" i="0" u="none" strike="noStrike" cap="none" normalizeH="0" baseline="0" dirty="0">
                <a:ln>
                  <a:noFill/>
                </a:ln>
                <a:solidFill>
                  <a:schemeClr val="tx1"/>
                </a:solidFill>
                <a:effectLst/>
                <a:latin typeface="Arial" panose="020B0604020202020204" pitchFamily="34" charset="0"/>
              </a:rPr>
              <a:t>make their communication possible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Distributed Operating Systems are much more </a:t>
            </a:r>
            <a:r>
              <a:rPr kumimoji="0" lang="en-US" altLang="en-US" sz="1800" b="1" i="0" u="none" strike="noStrike" cap="none" normalizeH="0" baseline="0" dirty="0">
                <a:ln>
                  <a:noFill/>
                </a:ln>
                <a:solidFill>
                  <a:schemeClr val="tx1"/>
                </a:solidFill>
                <a:effectLst/>
                <a:latin typeface="Arial" panose="020B0604020202020204" pitchFamily="34" charset="0"/>
              </a:rPr>
              <a:t>complex</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large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sophisticated</a:t>
            </a:r>
            <a:r>
              <a:rPr kumimoji="0" lang="en-US" altLang="en-US" sz="1800" b="0" i="0" u="none" strike="noStrike" cap="none" normalizeH="0" baseline="0" dirty="0">
                <a:ln>
                  <a:noFill/>
                </a:ln>
                <a:solidFill>
                  <a:schemeClr val="tx1"/>
                </a:solidFill>
                <a:effectLst/>
                <a:latin typeface="Arial" panose="020B0604020202020204" pitchFamily="34" charset="0"/>
              </a:rPr>
              <a:t> than </a:t>
            </a:r>
            <a:r>
              <a:rPr kumimoji="0" lang="en-US" altLang="en-US" sz="1800" b="1" i="0" u="none" strike="noStrike" cap="none" normalizeH="0" baseline="0" dirty="0">
                <a:ln>
                  <a:noFill/>
                </a:ln>
                <a:solidFill>
                  <a:schemeClr val="tx1"/>
                </a:solidFill>
                <a:effectLst/>
                <a:latin typeface="Arial" panose="020B0604020202020204" pitchFamily="34" charset="0"/>
              </a:rPr>
              <a:t>Network Operating Systems</a:t>
            </a:r>
            <a:r>
              <a:rPr kumimoji="0" lang="en-US" altLang="en-US" sz="1800" b="0" i="0" u="none" strike="noStrike" cap="none" normalizeH="0" baseline="0" dirty="0">
                <a:ln>
                  <a:noFill/>
                </a:ln>
                <a:solidFill>
                  <a:schemeClr val="tx1"/>
                </a:solidFill>
                <a:effectLst/>
                <a:latin typeface="Arial" panose="020B0604020202020204" pitchFamily="34" charset="0"/>
              </a:rPr>
              <a:t>, because they also have to take care of </a:t>
            </a:r>
            <a:r>
              <a:rPr kumimoji="0" lang="en-US" altLang="en-US" sz="1800" b="1" i="0" u="none" strike="noStrike" cap="none" normalizeH="0" baseline="0" dirty="0">
                <a:ln>
                  <a:noFill/>
                </a:ln>
                <a:solidFill>
                  <a:schemeClr val="tx1"/>
                </a:solidFill>
                <a:effectLst/>
                <a:latin typeface="Arial" panose="020B0604020202020204" pitchFamily="34" charset="0"/>
              </a:rPr>
              <a:t>varying networking protocols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2" name="Picture 11" descr="Real Time Operating System">
            <a:extLst>
              <a:ext uri="{FF2B5EF4-FFF2-40B4-BE49-F238E27FC236}">
                <a16:creationId xmlns:a16="http://schemas.microsoft.com/office/drawing/2014/main" id="{C5E1EBC0-9916-2BD0-BCAA-E65624F8AAD2}"/>
              </a:ext>
            </a:extLst>
          </p:cNvPr>
          <p:cNvPicPr>
            <a:picLocks noChangeAspect="1"/>
          </p:cNvPicPr>
          <p:nvPr/>
        </p:nvPicPr>
        <p:blipFill>
          <a:blip r:embed="rId2"/>
          <a:srcRect/>
          <a:stretch>
            <a:fillRect/>
          </a:stretch>
        </p:blipFill>
        <p:spPr bwMode="auto">
          <a:xfrm>
            <a:off x="7875638" y="565774"/>
            <a:ext cx="4542503" cy="3730923"/>
          </a:xfrm>
          <a:prstGeom prst="rect">
            <a:avLst/>
          </a:prstGeom>
          <a:noFill/>
          <a:ln w="9525">
            <a:noFill/>
            <a:miter lim="800000"/>
            <a:headEnd/>
            <a:tailEnd/>
          </a:ln>
        </p:spPr>
      </p:pic>
    </p:spTree>
    <p:extLst>
      <p:ext uri="{BB962C8B-B14F-4D97-AF65-F5344CB8AC3E}">
        <p14:creationId xmlns:p14="http://schemas.microsoft.com/office/powerpoint/2010/main" val="1176624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5A6E52-9B2D-F503-1133-5AEFA6250341}"/>
              </a:ext>
            </a:extLst>
          </p:cNvPr>
          <p:cNvSpPr txBox="1"/>
          <p:nvPr/>
        </p:nvSpPr>
        <p:spPr>
          <a:xfrm>
            <a:off x="405580" y="296778"/>
            <a:ext cx="7883014" cy="3934860"/>
          </a:xfrm>
          <a:prstGeom prst="rect">
            <a:avLst/>
          </a:prstGeom>
          <a:noFill/>
        </p:spPr>
        <p:txBody>
          <a:bodyPr wrap="square">
            <a:spAutoFit/>
          </a:bodyPr>
          <a:lstStyle/>
          <a:p>
            <a:pPr algn="just">
              <a:lnSpc>
                <a:spcPts val="1560"/>
              </a:lnSpc>
              <a:spcBef>
                <a:spcPts val="1000"/>
              </a:spcBef>
              <a:buNone/>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Distributed Operating System</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distributed operating system provides sharing of resources.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type of system is fault-tolerant.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With resource sharing facility, a user at one site may be able to use the resources available at another.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Speedup the exchange of data with one another via electronic mail.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If one site fails in a distributed system, the remaining sites can potentially continue operating.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Better service to the customers.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Reduction of the load on the host computer.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ts val="1505"/>
              </a:lnSpc>
              <a:spcAft>
                <a:spcPts val="1000"/>
              </a:spcAft>
              <a:buSzPts val="1000"/>
              <a:buFont typeface="Courier New" panose="02070309020205020404" pitchFamily="49" charset="0"/>
              <a:buChar char="o"/>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Reduction of delays in data processing.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1560"/>
              </a:lnSpc>
              <a:spcBef>
                <a:spcPts val="1000"/>
              </a:spcBef>
              <a:buNone/>
            </a:pPr>
            <a:r>
              <a:rPr lang="en-US" sz="18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Distributed Operating System</a:t>
            </a:r>
            <a:endParaRPr lang="en-IN" sz="16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spcAft>
                <a:spcPts val="1000"/>
              </a:spcAft>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Protocol overhead can dominate computation cost.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29073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12BE133-4FF1-FEE6-85F8-25EFD943D00D}"/>
              </a:ext>
            </a:extLst>
          </p:cNvPr>
          <p:cNvSpPr txBox="1"/>
          <p:nvPr/>
        </p:nvSpPr>
        <p:spPr>
          <a:xfrm>
            <a:off x="0" y="197346"/>
            <a:ext cx="12123174" cy="5355312"/>
          </a:xfrm>
          <a:prstGeom prst="rect">
            <a:avLst/>
          </a:prstGeom>
          <a:noFill/>
        </p:spPr>
        <p:txBody>
          <a:bodyPr wrap="square">
            <a:spAutoFit/>
          </a:bodyPr>
          <a:lstStyle/>
          <a:p>
            <a:pPr>
              <a:buNone/>
            </a:pPr>
            <a:r>
              <a:rPr lang="en-US" b="1" dirty="0"/>
              <a:t>Modern Operating System </a:t>
            </a:r>
          </a:p>
          <a:p>
            <a:pPr>
              <a:buNone/>
            </a:pPr>
            <a:r>
              <a:rPr lang="en-US" dirty="0"/>
              <a:t>Modern Operating Systems provide advanced features like </a:t>
            </a:r>
            <a:r>
              <a:rPr lang="en-US" b="1" dirty="0"/>
              <a:t>virtual memory</a:t>
            </a:r>
            <a:r>
              <a:rPr lang="en-US" dirty="0"/>
              <a:t>, which allows programs to use more memory than what is physically available in the system. This is done by moving parts of data between </a:t>
            </a:r>
            <a:r>
              <a:rPr lang="en-US" b="1" dirty="0"/>
              <a:t>main memory (RAM)</a:t>
            </a:r>
            <a:r>
              <a:rPr lang="en-US" dirty="0"/>
              <a:t> and </a:t>
            </a:r>
            <a:r>
              <a:rPr lang="en-US" b="1" dirty="0"/>
              <a:t>disk storage</a:t>
            </a:r>
            <a:r>
              <a:rPr lang="en-US" dirty="0"/>
              <a:t> as needed. The process is </a:t>
            </a:r>
            <a:r>
              <a:rPr lang="en-US" b="1" dirty="0"/>
              <a:t>transparent to the user</a:t>
            </a:r>
            <a:r>
              <a:rPr lang="en-US" dirty="0"/>
              <a:t>.</a:t>
            </a:r>
          </a:p>
          <a:p>
            <a:pPr>
              <a:buFont typeface="Arial" panose="020B0604020202020204" pitchFamily="34" charset="0"/>
              <a:buChar char="•"/>
            </a:pPr>
            <a:r>
              <a:rPr lang="en-US" dirty="0"/>
              <a:t>The </a:t>
            </a:r>
            <a:r>
              <a:rPr lang="en-US" b="1" dirty="0"/>
              <a:t>virtual memory</a:t>
            </a:r>
            <a:r>
              <a:rPr lang="en-US" dirty="0"/>
              <a:t> is divided into blocks called </a:t>
            </a:r>
            <a:r>
              <a:rPr lang="en-US" b="1" dirty="0"/>
              <a:t>pages</a:t>
            </a:r>
            <a:r>
              <a:rPr lang="en-US" dirty="0"/>
              <a:t>, and the physical memory is divided into </a:t>
            </a:r>
            <a:r>
              <a:rPr lang="en-US" b="1" dirty="0"/>
              <a:t>page frames</a:t>
            </a:r>
            <a:r>
              <a:rPr lang="en-US" dirty="0"/>
              <a:t> of the same size.</a:t>
            </a:r>
          </a:p>
          <a:p>
            <a:pPr>
              <a:buFont typeface="Arial" panose="020B0604020202020204" pitchFamily="34" charset="0"/>
              <a:buChar char="•"/>
            </a:pPr>
            <a:r>
              <a:rPr lang="en-US" dirty="0"/>
              <a:t>A </a:t>
            </a:r>
            <a:r>
              <a:rPr lang="en-US" b="1" dirty="0"/>
              <a:t>page table</a:t>
            </a:r>
            <a:r>
              <a:rPr lang="en-US" dirty="0"/>
              <a:t> is used to map virtual addresses to physical addresses (page frames) and to keep track of which pages are loaded or not.</a:t>
            </a:r>
          </a:p>
          <a:p>
            <a:pPr>
              <a:buFont typeface="Arial" panose="020B0604020202020204" pitchFamily="34" charset="0"/>
              <a:buChar char="•"/>
            </a:pPr>
            <a:r>
              <a:rPr lang="en-US" dirty="0"/>
              <a:t>If a program tries to access a page that is not currently in memory, a </a:t>
            </a:r>
            <a:r>
              <a:rPr lang="en-US" b="1" dirty="0"/>
              <a:t>page fault</a:t>
            </a:r>
            <a:r>
              <a:rPr lang="en-US" dirty="0"/>
              <a:t> occurs.</a:t>
            </a:r>
          </a:p>
          <a:p>
            <a:pPr>
              <a:buFont typeface="Arial" panose="020B0604020202020204" pitchFamily="34" charset="0"/>
              <a:buChar char="•"/>
            </a:pPr>
            <a:r>
              <a:rPr lang="en-US" dirty="0"/>
              <a:t>In case of a page fault, the OS:</a:t>
            </a:r>
          </a:p>
          <a:p>
            <a:pPr marL="742950" lvl="1" indent="-285750">
              <a:buFont typeface="Arial" panose="020B0604020202020204" pitchFamily="34" charset="0"/>
              <a:buChar char="•"/>
            </a:pPr>
            <a:r>
              <a:rPr lang="en-US" dirty="0"/>
              <a:t>Interrupts the CPU.</a:t>
            </a:r>
          </a:p>
          <a:p>
            <a:pPr marL="742950" lvl="1" indent="-285750">
              <a:buFont typeface="Arial" panose="020B0604020202020204" pitchFamily="34" charset="0"/>
              <a:buChar char="•"/>
            </a:pPr>
            <a:r>
              <a:rPr lang="en-US" dirty="0"/>
              <a:t>Selects a </a:t>
            </a:r>
            <a:r>
              <a:rPr lang="en-US" b="1" dirty="0"/>
              <a:t>rarely used page</a:t>
            </a:r>
            <a:r>
              <a:rPr lang="en-US" dirty="0"/>
              <a:t> to remove.</a:t>
            </a:r>
          </a:p>
          <a:p>
            <a:pPr marL="742950" lvl="1" indent="-285750">
              <a:buFont typeface="Arial" panose="020B0604020202020204" pitchFamily="34" charset="0"/>
              <a:buChar char="•"/>
            </a:pPr>
            <a:r>
              <a:rPr lang="en-US" dirty="0"/>
              <a:t>Saves that page back to the </a:t>
            </a:r>
            <a:r>
              <a:rPr lang="en-US" b="1" dirty="0"/>
              <a:t>disk</a:t>
            </a:r>
            <a:r>
              <a:rPr lang="en-US" dirty="0"/>
              <a:t>.</a:t>
            </a:r>
          </a:p>
          <a:p>
            <a:pPr marL="742950" lvl="1" indent="-285750">
              <a:buFont typeface="Arial" panose="020B0604020202020204" pitchFamily="34" charset="0"/>
              <a:buChar char="•"/>
            </a:pPr>
            <a:r>
              <a:rPr lang="en-US" dirty="0"/>
              <a:t>Loads the </a:t>
            </a:r>
            <a:r>
              <a:rPr lang="en-US" b="1" dirty="0"/>
              <a:t>required page</a:t>
            </a:r>
            <a:r>
              <a:rPr lang="en-US" dirty="0"/>
              <a:t> from disk to the now free page frame.</a:t>
            </a:r>
          </a:p>
          <a:p>
            <a:pPr marL="742950" lvl="1" indent="-285750">
              <a:buFont typeface="Arial" panose="020B0604020202020204" pitchFamily="34" charset="0"/>
              <a:buChar char="•"/>
            </a:pPr>
            <a:r>
              <a:rPr lang="en-US" dirty="0"/>
              <a:t>Updates the page table and </a:t>
            </a:r>
            <a:r>
              <a:rPr lang="en-US" b="1" dirty="0"/>
              <a:t>restarts the instruction</a:t>
            </a:r>
            <a:r>
              <a:rPr lang="en-US" dirty="0"/>
              <a:t> that was interrupted.</a:t>
            </a:r>
          </a:p>
          <a:p>
            <a:pPr>
              <a:buNone/>
            </a:pPr>
            <a:r>
              <a:rPr lang="en-US" dirty="0"/>
              <a:t>Typically, the </a:t>
            </a:r>
            <a:r>
              <a:rPr lang="en-US" b="1" dirty="0"/>
              <a:t>page size</a:t>
            </a:r>
            <a:r>
              <a:rPr lang="en-US" dirty="0"/>
              <a:t> in modern systems is </a:t>
            </a:r>
            <a:r>
              <a:rPr lang="en-US" b="1" dirty="0"/>
              <a:t>4,096 bytes (4 KB)</a:t>
            </a:r>
            <a:r>
              <a:rPr lang="en-US" dirty="0"/>
              <a:t>.</a:t>
            </a:r>
          </a:p>
          <a:p>
            <a:pPr>
              <a:buNone/>
            </a:pPr>
            <a:r>
              <a:rPr lang="en-US" dirty="0"/>
              <a:t>In addition to memory management, modern OSs also have built-in </a:t>
            </a:r>
            <a:r>
              <a:rPr lang="en-US" b="1" dirty="0"/>
              <a:t>networking support</a:t>
            </a:r>
            <a:r>
              <a:rPr lang="en-US" dirty="0"/>
              <a:t>. This includes:</a:t>
            </a:r>
          </a:p>
          <a:p>
            <a:pPr>
              <a:buFont typeface="Arial" panose="020B0604020202020204" pitchFamily="34" charset="0"/>
              <a:buChar char="•"/>
            </a:pPr>
            <a:r>
              <a:rPr lang="en-US" b="1" dirty="0"/>
              <a:t>Protocol processing</a:t>
            </a:r>
            <a:r>
              <a:rPr lang="en-US" dirty="0"/>
              <a:t> to support application and transport layers (like TCP/IP).</a:t>
            </a:r>
          </a:p>
          <a:p>
            <a:pPr>
              <a:buFont typeface="Arial" panose="020B0604020202020204" pitchFamily="34" charset="0"/>
              <a:buChar char="•"/>
            </a:pPr>
            <a:r>
              <a:rPr lang="en-US" dirty="0"/>
              <a:t>Functions for </a:t>
            </a:r>
            <a:r>
              <a:rPr lang="en-US" b="1" dirty="0"/>
              <a:t>packet forwarding</a:t>
            </a:r>
            <a:r>
              <a:rPr lang="en-US" dirty="0"/>
              <a:t>, making it possible for the system to act as a </a:t>
            </a:r>
            <a:r>
              <a:rPr lang="en-US" b="1" dirty="0"/>
              <a:t>router</a:t>
            </a:r>
            <a:r>
              <a:rPr lang="en-US" dirty="0"/>
              <a:t> if needed.</a:t>
            </a:r>
          </a:p>
        </p:txBody>
      </p:sp>
    </p:spTree>
    <p:extLst>
      <p:ext uri="{BB962C8B-B14F-4D97-AF65-F5344CB8AC3E}">
        <p14:creationId xmlns:p14="http://schemas.microsoft.com/office/powerpoint/2010/main" val="4165265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1D5AB-45B2-5CD6-9715-0D2577853BC0}"/>
              </a:ext>
            </a:extLst>
          </p:cNvPr>
          <p:cNvSpPr>
            <a:spLocks noGrp="1"/>
          </p:cNvSpPr>
          <p:nvPr>
            <p:ph type="title"/>
          </p:nvPr>
        </p:nvSpPr>
        <p:spPr>
          <a:xfrm>
            <a:off x="265471" y="86765"/>
            <a:ext cx="10789383" cy="1378242"/>
          </a:xfrm>
        </p:spPr>
        <p:txBody>
          <a:bodyPr>
            <a:normAutofit fontScale="90000"/>
          </a:bodyPr>
          <a:lstStyle/>
          <a:p>
            <a:r>
              <a:rPr lang="en-US" sz="4400" b="1" u="sng" dirty="0">
                <a:latin typeface="Algerian" panose="04020705040A02060702" pitchFamily="82" charset="0"/>
              </a:rPr>
              <a:t>unit:2</a:t>
            </a:r>
            <a:br>
              <a:rPr lang="en-US" dirty="0">
                <a:latin typeface="Algerian" panose="04020705040A02060702" pitchFamily="82" charset="0"/>
              </a:rPr>
            </a:br>
            <a:br>
              <a:rPr lang="en-US" dirty="0">
                <a:latin typeface="Algerian" panose="04020705040A02060702" pitchFamily="82" charset="0"/>
              </a:rPr>
            </a:br>
            <a:r>
              <a:rPr lang="en-US" dirty="0">
                <a:latin typeface="Algerian" panose="04020705040A02060702" pitchFamily="82" charset="0"/>
              </a:rPr>
              <a:t>	</a:t>
            </a:r>
            <a:br>
              <a:rPr lang="en-US" dirty="0">
                <a:latin typeface="Algerian" panose="04020705040A02060702" pitchFamily="82" charset="0"/>
              </a:rPr>
            </a:br>
            <a:r>
              <a:rPr lang="en-US" dirty="0">
                <a:latin typeface="Algerian" panose="04020705040A02060702" pitchFamily="82" charset="0"/>
              </a:rPr>
              <a:t>			operating system </a:t>
            </a:r>
            <a:r>
              <a:rPr lang="en-US" dirty="0" err="1">
                <a:latin typeface="Algerian" panose="04020705040A02060702" pitchFamily="82" charset="0"/>
              </a:rPr>
              <a:t>organisation</a:t>
            </a:r>
            <a:endParaRPr lang="en-IN" dirty="0">
              <a:latin typeface="Algerian" panose="04020705040A02060702" pitchFamily="82" charset="0"/>
            </a:endParaRPr>
          </a:p>
        </p:txBody>
      </p:sp>
    </p:spTree>
    <p:extLst>
      <p:ext uri="{BB962C8B-B14F-4D97-AF65-F5344CB8AC3E}">
        <p14:creationId xmlns:p14="http://schemas.microsoft.com/office/powerpoint/2010/main" val="3810518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5D20A9-827B-E53D-C039-0B309BFF9A38}"/>
              </a:ext>
            </a:extLst>
          </p:cNvPr>
          <p:cNvPicPr>
            <a:picLocks noChangeAspect="1"/>
          </p:cNvPicPr>
          <p:nvPr/>
        </p:nvPicPr>
        <p:blipFill>
          <a:blip r:embed="rId2"/>
          <a:stretch>
            <a:fillRect/>
          </a:stretch>
        </p:blipFill>
        <p:spPr>
          <a:xfrm>
            <a:off x="2585884" y="100780"/>
            <a:ext cx="7020231" cy="6656439"/>
          </a:xfrm>
          <a:prstGeom prst="rect">
            <a:avLst/>
          </a:prstGeom>
        </p:spPr>
      </p:pic>
    </p:spTree>
    <p:extLst>
      <p:ext uri="{BB962C8B-B14F-4D97-AF65-F5344CB8AC3E}">
        <p14:creationId xmlns:p14="http://schemas.microsoft.com/office/powerpoint/2010/main" val="1765335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D5F468-D1AE-87B1-8599-33D31B25E1D1}"/>
              </a:ext>
            </a:extLst>
          </p:cNvPr>
          <p:cNvPicPr>
            <a:picLocks noChangeAspect="1"/>
          </p:cNvPicPr>
          <p:nvPr/>
        </p:nvPicPr>
        <p:blipFill>
          <a:blip r:embed="rId2"/>
          <a:stretch>
            <a:fillRect/>
          </a:stretch>
        </p:blipFill>
        <p:spPr>
          <a:xfrm>
            <a:off x="2153264" y="412954"/>
            <a:ext cx="8150941" cy="7187381"/>
          </a:xfrm>
          <a:prstGeom prst="rect">
            <a:avLst/>
          </a:prstGeom>
        </p:spPr>
      </p:pic>
    </p:spTree>
    <p:extLst>
      <p:ext uri="{BB962C8B-B14F-4D97-AF65-F5344CB8AC3E}">
        <p14:creationId xmlns:p14="http://schemas.microsoft.com/office/powerpoint/2010/main" val="1470125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F3AF1B-95B9-69B8-7DA7-D752A1B61DA4}"/>
              </a:ext>
            </a:extLst>
          </p:cNvPr>
          <p:cNvSpPr txBox="1"/>
          <p:nvPr/>
        </p:nvSpPr>
        <p:spPr>
          <a:xfrm>
            <a:off x="258096" y="134882"/>
            <a:ext cx="8030497" cy="461665"/>
          </a:xfrm>
          <a:prstGeom prst="rect">
            <a:avLst/>
          </a:prstGeom>
          <a:noFill/>
        </p:spPr>
        <p:txBody>
          <a:bodyPr wrap="square">
            <a:spAutoFit/>
          </a:bodyPr>
          <a:lstStyle/>
          <a:p>
            <a:r>
              <a:rPr lang="en-US" sz="2400" dirty="0" err="1"/>
              <a:t>Q.write</a:t>
            </a:r>
            <a:r>
              <a:rPr lang="en-US" sz="2400" dirty="0"/>
              <a:t> difference between user mode and </a:t>
            </a:r>
            <a:r>
              <a:rPr lang="en-US" sz="2400" dirty="0" err="1"/>
              <a:t>kernal</a:t>
            </a:r>
            <a:r>
              <a:rPr lang="en-US" sz="2400" dirty="0"/>
              <a:t> mode</a:t>
            </a:r>
            <a:endParaRPr lang="en-IN" sz="2400" dirty="0"/>
          </a:p>
        </p:txBody>
      </p:sp>
      <p:graphicFrame>
        <p:nvGraphicFramePr>
          <p:cNvPr id="4" name="Table 3">
            <a:extLst>
              <a:ext uri="{FF2B5EF4-FFF2-40B4-BE49-F238E27FC236}">
                <a16:creationId xmlns:a16="http://schemas.microsoft.com/office/drawing/2014/main" id="{CB8AC374-99AE-F599-9AA6-E5743CDF4346}"/>
              </a:ext>
            </a:extLst>
          </p:cNvPr>
          <p:cNvGraphicFramePr>
            <a:graphicFrameLocks noGrp="1"/>
          </p:cNvGraphicFramePr>
          <p:nvPr>
            <p:extLst>
              <p:ext uri="{D42A27DB-BD31-4B8C-83A1-F6EECF244321}">
                <p14:modId xmlns:p14="http://schemas.microsoft.com/office/powerpoint/2010/main" val="167516277"/>
              </p:ext>
            </p:extLst>
          </p:nvPr>
        </p:nvGraphicFramePr>
        <p:xfrm>
          <a:off x="344130" y="1091381"/>
          <a:ext cx="11366088" cy="4892548"/>
        </p:xfrm>
        <a:graphic>
          <a:graphicData uri="http://schemas.openxmlformats.org/drawingml/2006/table">
            <a:tbl>
              <a:tblPr/>
              <a:tblGrid>
                <a:gridCol w="3788696">
                  <a:extLst>
                    <a:ext uri="{9D8B030D-6E8A-4147-A177-3AD203B41FA5}">
                      <a16:colId xmlns:a16="http://schemas.microsoft.com/office/drawing/2014/main" val="4069032033"/>
                    </a:ext>
                  </a:extLst>
                </a:gridCol>
                <a:gridCol w="3788696">
                  <a:extLst>
                    <a:ext uri="{9D8B030D-6E8A-4147-A177-3AD203B41FA5}">
                      <a16:colId xmlns:a16="http://schemas.microsoft.com/office/drawing/2014/main" val="3958073284"/>
                    </a:ext>
                  </a:extLst>
                </a:gridCol>
                <a:gridCol w="3788696">
                  <a:extLst>
                    <a:ext uri="{9D8B030D-6E8A-4147-A177-3AD203B41FA5}">
                      <a16:colId xmlns:a16="http://schemas.microsoft.com/office/drawing/2014/main" val="1722329012"/>
                    </a:ext>
                  </a:extLst>
                </a:gridCol>
              </a:tblGrid>
              <a:tr h="338556">
                <a:tc>
                  <a:txBody>
                    <a:bodyPr/>
                    <a:lstStyle/>
                    <a:p>
                      <a:pPr>
                        <a:buNone/>
                      </a:pPr>
                      <a:r>
                        <a:rPr lang="en-IN" sz="1800" b="1"/>
                        <a:t>Feature</a:t>
                      </a:r>
                      <a:endParaRPr lang="en-IN" sz="1800"/>
                    </a:p>
                  </a:txBody>
                  <a:tcPr marL="60520" marR="60520" marT="30260" marB="30260" anchor="ctr">
                    <a:lnL>
                      <a:noFill/>
                    </a:lnL>
                    <a:lnR>
                      <a:noFill/>
                    </a:lnR>
                    <a:lnT>
                      <a:noFill/>
                    </a:lnT>
                    <a:lnB>
                      <a:noFill/>
                    </a:lnB>
                    <a:noFill/>
                  </a:tcPr>
                </a:tc>
                <a:tc>
                  <a:txBody>
                    <a:bodyPr/>
                    <a:lstStyle/>
                    <a:p>
                      <a:pPr>
                        <a:buNone/>
                      </a:pPr>
                      <a:r>
                        <a:rPr lang="en-IN" sz="1800" b="1"/>
                        <a:t>User Mode</a:t>
                      </a:r>
                      <a:endParaRPr lang="en-IN" sz="1800"/>
                    </a:p>
                  </a:txBody>
                  <a:tcPr marL="60520" marR="60520" marT="30260" marB="30260" anchor="ctr">
                    <a:lnL>
                      <a:noFill/>
                    </a:lnL>
                    <a:lnR>
                      <a:noFill/>
                    </a:lnR>
                    <a:lnT>
                      <a:noFill/>
                    </a:lnT>
                    <a:lnB>
                      <a:noFill/>
                    </a:lnB>
                    <a:noFill/>
                  </a:tcPr>
                </a:tc>
                <a:tc>
                  <a:txBody>
                    <a:bodyPr/>
                    <a:lstStyle/>
                    <a:p>
                      <a:pPr>
                        <a:buNone/>
                      </a:pPr>
                      <a:r>
                        <a:rPr lang="en-IN" sz="1800" b="1"/>
                        <a:t>Kernel Mode</a:t>
                      </a:r>
                      <a:endParaRPr lang="en-IN" sz="1800"/>
                    </a:p>
                  </a:txBody>
                  <a:tcPr marL="60520" marR="60520" marT="30260" marB="30260" anchor="ctr">
                    <a:lnL>
                      <a:noFill/>
                    </a:lnL>
                    <a:lnR>
                      <a:noFill/>
                    </a:lnR>
                    <a:lnT>
                      <a:noFill/>
                    </a:lnT>
                    <a:lnB>
                      <a:noFill/>
                    </a:lnB>
                    <a:noFill/>
                  </a:tcPr>
                </a:tc>
                <a:extLst>
                  <a:ext uri="{0D108BD9-81ED-4DB2-BD59-A6C34878D82A}">
                    <a16:rowId xmlns:a16="http://schemas.microsoft.com/office/drawing/2014/main" val="937491198"/>
                  </a:ext>
                </a:extLst>
              </a:tr>
              <a:tr h="592932">
                <a:tc>
                  <a:txBody>
                    <a:bodyPr/>
                    <a:lstStyle/>
                    <a:p>
                      <a:pPr>
                        <a:buNone/>
                      </a:pPr>
                      <a:r>
                        <a:rPr lang="en-IN" sz="1800" b="1"/>
                        <a:t>Definition</a:t>
                      </a:r>
                      <a:endParaRPr lang="en-IN" sz="1800"/>
                    </a:p>
                  </a:txBody>
                  <a:tcPr marL="60520" marR="60520" marT="30260" marB="30260" anchor="ctr">
                    <a:lnL>
                      <a:noFill/>
                    </a:lnL>
                    <a:lnR>
                      <a:noFill/>
                    </a:lnR>
                    <a:lnT>
                      <a:noFill/>
                    </a:lnT>
                    <a:lnB>
                      <a:noFill/>
                    </a:lnB>
                    <a:noFill/>
                  </a:tcPr>
                </a:tc>
                <a:tc>
                  <a:txBody>
                    <a:bodyPr/>
                    <a:lstStyle/>
                    <a:p>
                      <a:pPr>
                        <a:buNone/>
                      </a:pPr>
                      <a:r>
                        <a:rPr lang="en-US" sz="1800"/>
                        <a:t>Mode in which user applications run</a:t>
                      </a:r>
                    </a:p>
                  </a:txBody>
                  <a:tcPr marL="60520" marR="60520" marT="30260" marB="30260" anchor="ctr">
                    <a:lnL>
                      <a:noFill/>
                    </a:lnL>
                    <a:lnR>
                      <a:noFill/>
                    </a:lnR>
                    <a:lnT>
                      <a:noFill/>
                    </a:lnT>
                    <a:lnB>
                      <a:noFill/>
                    </a:lnB>
                    <a:noFill/>
                  </a:tcPr>
                </a:tc>
                <a:tc>
                  <a:txBody>
                    <a:bodyPr/>
                    <a:lstStyle/>
                    <a:p>
                      <a:pPr>
                        <a:buNone/>
                      </a:pPr>
                      <a:r>
                        <a:rPr lang="en-US" sz="1800"/>
                        <a:t>Mode in which operating system code runs</a:t>
                      </a:r>
                    </a:p>
                  </a:txBody>
                  <a:tcPr marL="60520" marR="60520" marT="30260" marB="30260" anchor="ctr">
                    <a:lnL>
                      <a:noFill/>
                    </a:lnL>
                    <a:lnR>
                      <a:noFill/>
                    </a:lnR>
                    <a:lnT>
                      <a:noFill/>
                    </a:lnT>
                    <a:lnB>
                      <a:noFill/>
                    </a:lnB>
                    <a:noFill/>
                  </a:tcPr>
                </a:tc>
                <a:extLst>
                  <a:ext uri="{0D108BD9-81ED-4DB2-BD59-A6C34878D82A}">
                    <a16:rowId xmlns:a16="http://schemas.microsoft.com/office/drawing/2014/main" val="3928883266"/>
                  </a:ext>
                </a:extLst>
              </a:tr>
              <a:tr h="592932">
                <a:tc>
                  <a:txBody>
                    <a:bodyPr/>
                    <a:lstStyle/>
                    <a:p>
                      <a:pPr>
                        <a:buNone/>
                      </a:pPr>
                      <a:r>
                        <a:rPr lang="en-IN" sz="1800" b="1" dirty="0"/>
                        <a:t>Access to Hardware</a:t>
                      </a:r>
                      <a:endParaRPr lang="en-IN" sz="1800" dirty="0"/>
                    </a:p>
                  </a:txBody>
                  <a:tcPr marL="60520" marR="60520" marT="30260" marB="30260" anchor="ctr">
                    <a:lnL>
                      <a:noFill/>
                    </a:lnL>
                    <a:lnR>
                      <a:noFill/>
                    </a:lnR>
                    <a:lnT>
                      <a:noFill/>
                    </a:lnT>
                    <a:lnB>
                      <a:noFill/>
                    </a:lnB>
                    <a:noFill/>
                  </a:tcPr>
                </a:tc>
                <a:tc>
                  <a:txBody>
                    <a:bodyPr/>
                    <a:lstStyle/>
                    <a:p>
                      <a:pPr>
                        <a:buNone/>
                      </a:pPr>
                      <a:r>
                        <a:rPr lang="en-US" sz="1800"/>
                        <a:t>No direct access to hardware</a:t>
                      </a:r>
                    </a:p>
                  </a:txBody>
                  <a:tcPr marL="60520" marR="60520" marT="30260" marB="30260" anchor="ctr">
                    <a:lnL>
                      <a:noFill/>
                    </a:lnL>
                    <a:lnR>
                      <a:noFill/>
                    </a:lnR>
                    <a:lnT>
                      <a:noFill/>
                    </a:lnT>
                    <a:lnB>
                      <a:noFill/>
                    </a:lnB>
                    <a:noFill/>
                  </a:tcPr>
                </a:tc>
                <a:tc>
                  <a:txBody>
                    <a:bodyPr/>
                    <a:lstStyle/>
                    <a:p>
                      <a:pPr>
                        <a:buNone/>
                      </a:pPr>
                      <a:r>
                        <a:rPr lang="en-US" sz="1800"/>
                        <a:t>Full access to hardware and system resources</a:t>
                      </a:r>
                    </a:p>
                  </a:txBody>
                  <a:tcPr marL="60520" marR="60520" marT="30260" marB="30260" anchor="ctr">
                    <a:lnL>
                      <a:noFill/>
                    </a:lnL>
                    <a:lnR>
                      <a:noFill/>
                    </a:lnR>
                    <a:lnT>
                      <a:noFill/>
                    </a:lnT>
                    <a:lnB>
                      <a:noFill/>
                    </a:lnB>
                    <a:noFill/>
                  </a:tcPr>
                </a:tc>
                <a:extLst>
                  <a:ext uri="{0D108BD9-81ED-4DB2-BD59-A6C34878D82A}">
                    <a16:rowId xmlns:a16="http://schemas.microsoft.com/office/drawing/2014/main" val="2758732312"/>
                  </a:ext>
                </a:extLst>
              </a:tr>
              <a:tr h="338556">
                <a:tc>
                  <a:txBody>
                    <a:bodyPr/>
                    <a:lstStyle/>
                    <a:p>
                      <a:pPr>
                        <a:buNone/>
                      </a:pPr>
                      <a:r>
                        <a:rPr lang="en-IN" sz="1800" b="1"/>
                        <a:t>Privilege Level</a:t>
                      </a:r>
                      <a:endParaRPr lang="en-IN" sz="1800"/>
                    </a:p>
                  </a:txBody>
                  <a:tcPr marL="60520" marR="60520" marT="30260" marB="30260" anchor="ctr">
                    <a:lnL>
                      <a:noFill/>
                    </a:lnL>
                    <a:lnR>
                      <a:noFill/>
                    </a:lnR>
                    <a:lnT>
                      <a:noFill/>
                    </a:lnT>
                    <a:lnB>
                      <a:noFill/>
                    </a:lnB>
                    <a:noFill/>
                  </a:tcPr>
                </a:tc>
                <a:tc>
                  <a:txBody>
                    <a:bodyPr/>
                    <a:lstStyle/>
                    <a:p>
                      <a:pPr>
                        <a:buNone/>
                      </a:pPr>
                      <a:r>
                        <a:rPr lang="en-IN" sz="1800"/>
                        <a:t>Low privilege</a:t>
                      </a:r>
                    </a:p>
                  </a:txBody>
                  <a:tcPr marL="60520" marR="60520" marT="30260" marB="30260" anchor="ctr">
                    <a:lnL>
                      <a:noFill/>
                    </a:lnL>
                    <a:lnR>
                      <a:noFill/>
                    </a:lnR>
                    <a:lnT>
                      <a:noFill/>
                    </a:lnT>
                    <a:lnB>
                      <a:noFill/>
                    </a:lnB>
                    <a:noFill/>
                  </a:tcPr>
                </a:tc>
                <a:tc>
                  <a:txBody>
                    <a:bodyPr/>
                    <a:lstStyle/>
                    <a:p>
                      <a:pPr>
                        <a:buNone/>
                      </a:pPr>
                      <a:r>
                        <a:rPr lang="en-IN" sz="1800"/>
                        <a:t>High privilege</a:t>
                      </a:r>
                    </a:p>
                  </a:txBody>
                  <a:tcPr marL="60520" marR="60520" marT="30260" marB="30260" anchor="ctr">
                    <a:lnL>
                      <a:noFill/>
                    </a:lnL>
                    <a:lnR>
                      <a:noFill/>
                    </a:lnR>
                    <a:lnT>
                      <a:noFill/>
                    </a:lnT>
                    <a:lnB>
                      <a:noFill/>
                    </a:lnB>
                    <a:noFill/>
                  </a:tcPr>
                </a:tc>
                <a:extLst>
                  <a:ext uri="{0D108BD9-81ED-4DB2-BD59-A6C34878D82A}">
                    <a16:rowId xmlns:a16="http://schemas.microsoft.com/office/drawing/2014/main" val="1807229319"/>
                  </a:ext>
                </a:extLst>
              </a:tr>
              <a:tr h="592932">
                <a:tc>
                  <a:txBody>
                    <a:bodyPr/>
                    <a:lstStyle/>
                    <a:p>
                      <a:pPr>
                        <a:buNone/>
                      </a:pPr>
                      <a:r>
                        <a:rPr lang="en-IN" sz="1800" b="1"/>
                        <a:t>Instruction Access</a:t>
                      </a:r>
                      <a:endParaRPr lang="en-IN" sz="1800"/>
                    </a:p>
                  </a:txBody>
                  <a:tcPr marL="60520" marR="60520" marT="30260" marB="30260" anchor="ctr">
                    <a:lnL>
                      <a:noFill/>
                    </a:lnL>
                    <a:lnR>
                      <a:noFill/>
                    </a:lnR>
                    <a:lnT>
                      <a:noFill/>
                    </a:lnT>
                    <a:lnB>
                      <a:noFill/>
                    </a:lnB>
                    <a:noFill/>
                  </a:tcPr>
                </a:tc>
                <a:tc>
                  <a:txBody>
                    <a:bodyPr/>
                    <a:lstStyle/>
                    <a:p>
                      <a:pPr>
                        <a:buNone/>
                      </a:pPr>
                      <a:r>
                        <a:rPr lang="en-IN" sz="1800"/>
                        <a:t>Cannot execute privileged instructions</a:t>
                      </a:r>
                    </a:p>
                  </a:txBody>
                  <a:tcPr marL="60520" marR="60520" marT="30260" marB="30260" anchor="ctr">
                    <a:lnL>
                      <a:noFill/>
                    </a:lnL>
                    <a:lnR>
                      <a:noFill/>
                    </a:lnR>
                    <a:lnT>
                      <a:noFill/>
                    </a:lnT>
                    <a:lnB>
                      <a:noFill/>
                    </a:lnB>
                    <a:noFill/>
                  </a:tcPr>
                </a:tc>
                <a:tc>
                  <a:txBody>
                    <a:bodyPr/>
                    <a:lstStyle/>
                    <a:p>
                      <a:pPr>
                        <a:buNone/>
                      </a:pPr>
                      <a:r>
                        <a:rPr lang="en-US" sz="1800"/>
                        <a:t>Can execute any CPU instruction</a:t>
                      </a:r>
                    </a:p>
                  </a:txBody>
                  <a:tcPr marL="60520" marR="60520" marT="30260" marB="30260" anchor="ctr">
                    <a:lnL>
                      <a:noFill/>
                    </a:lnL>
                    <a:lnR>
                      <a:noFill/>
                    </a:lnR>
                    <a:lnT>
                      <a:noFill/>
                    </a:lnT>
                    <a:lnB>
                      <a:noFill/>
                    </a:lnB>
                    <a:noFill/>
                  </a:tcPr>
                </a:tc>
                <a:extLst>
                  <a:ext uri="{0D108BD9-81ED-4DB2-BD59-A6C34878D82A}">
                    <a16:rowId xmlns:a16="http://schemas.microsoft.com/office/drawing/2014/main" val="1379652463"/>
                  </a:ext>
                </a:extLst>
              </a:tr>
              <a:tr h="592932">
                <a:tc>
                  <a:txBody>
                    <a:bodyPr/>
                    <a:lstStyle/>
                    <a:p>
                      <a:pPr>
                        <a:buNone/>
                      </a:pPr>
                      <a:r>
                        <a:rPr lang="en-IN" sz="1800" b="1"/>
                        <a:t>System Call Usage</a:t>
                      </a:r>
                      <a:endParaRPr lang="en-IN" sz="1800"/>
                    </a:p>
                  </a:txBody>
                  <a:tcPr marL="60520" marR="60520" marT="30260" marB="30260" anchor="ctr">
                    <a:lnL>
                      <a:noFill/>
                    </a:lnL>
                    <a:lnR>
                      <a:noFill/>
                    </a:lnR>
                    <a:lnT>
                      <a:noFill/>
                    </a:lnT>
                    <a:lnB>
                      <a:noFill/>
                    </a:lnB>
                    <a:noFill/>
                  </a:tcPr>
                </a:tc>
                <a:tc>
                  <a:txBody>
                    <a:bodyPr/>
                    <a:lstStyle/>
                    <a:p>
                      <a:pPr>
                        <a:buNone/>
                      </a:pPr>
                      <a:r>
                        <a:rPr lang="en-US" sz="1800"/>
                        <a:t>Requires system calls to access OS services</a:t>
                      </a:r>
                    </a:p>
                  </a:txBody>
                  <a:tcPr marL="60520" marR="60520" marT="30260" marB="30260" anchor="ctr">
                    <a:lnL>
                      <a:noFill/>
                    </a:lnL>
                    <a:lnR>
                      <a:noFill/>
                    </a:lnR>
                    <a:lnT>
                      <a:noFill/>
                    </a:lnT>
                    <a:lnB>
                      <a:noFill/>
                    </a:lnB>
                    <a:noFill/>
                  </a:tcPr>
                </a:tc>
                <a:tc>
                  <a:txBody>
                    <a:bodyPr/>
                    <a:lstStyle/>
                    <a:p>
                      <a:pPr>
                        <a:buNone/>
                      </a:pPr>
                      <a:r>
                        <a:rPr lang="en-US" sz="1800"/>
                        <a:t>Can access all system resources directly</a:t>
                      </a:r>
                    </a:p>
                  </a:txBody>
                  <a:tcPr marL="60520" marR="60520" marT="30260" marB="30260" anchor="ctr">
                    <a:lnL>
                      <a:noFill/>
                    </a:lnL>
                    <a:lnR>
                      <a:noFill/>
                    </a:lnR>
                    <a:lnT>
                      <a:noFill/>
                    </a:lnT>
                    <a:lnB>
                      <a:noFill/>
                    </a:lnB>
                    <a:noFill/>
                  </a:tcPr>
                </a:tc>
                <a:extLst>
                  <a:ext uri="{0D108BD9-81ED-4DB2-BD59-A6C34878D82A}">
                    <a16:rowId xmlns:a16="http://schemas.microsoft.com/office/drawing/2014/main" val="3679941344"/>
                  </a:ext>
                </a:extLst>
              </a:tr>
              <a:tr h="592932">
                <a:tc>
                  <a:txBody>
                    <a:bodyPr/>
                    <a:lstStyle/>
                    <a:p>
                      <a:pPr>
                        <a:buNone/>
                      </a:pPr>
                      <a:r>
                        <a:rPr lang="en-IN" sz="1800" b="1"/>
                        <a:t>Stability</a:t>
                      </a:r>
                      <a:endParaRPr lang="en-IN" sz="1800"/>
                    </a:p>
                  </a:txBody>
                  <a:tcPr marL="60520" marR="60520" marT="30260" marB="30260" anchor="ctr">
                    <a:lnL>
                      <a:noFill/>
                    </a:lnL>
                    <a:lnR>
                      <a:noFill/>
                    </a:lnR>
                    <a:lnT>
                      <a:noFill/>
                    </a:lnT>
                    <a:lnB>
                      <a:noFill/>
                    </a:lnB>
                    <a:noFill/>
                  </a:tcPr>
                </a:tc>
                <a:tc>
                  <a:txBody>
                    <a:bodyPr/>
                    <a:lstStyle/>
                    <a:p>
                      <a:pPr>
                        <a:buNone/>
                      </a:pPr>
                      <a:r>
                        <a:rPr lang="en-US" sz="1800"/>
                        <a:t>Errors affect only the application</a:t>
                      </a:r>
                    </a:p>
                  </a:txBody>
                  <a:tcPr marL="60520" marR="60520" marT="30260" marB="30260" anchor="ctr">
                    <a:lnL>
                      <a:noFill/>
                    </a:lnL>
                    <a:lnR>
                      <a:noFill/>
                    </a:lnR>
                    <a:lnT>
                      <a:noFill/>
                    </a:lnT>
                    <a:lnB>
                      <a:noFill/>
                    </a:lnB>
                    <a:noFill/>
                  </a:tcPr>
                </a:tc>
                <a:tc>
                  <a:txBody>
                    <a:bodyPr/>
                    <a:lstStyle/>
                    <a:p>
                      <a:pPr>
                        <a:buNone/>
                      </a:pPr>
                      <a:r>
                        <a:rPr lang="en-US" sz="1800"/>
                        <a:t>Errors can crash the entire system</a:t>
                      </a:r>
                    </a:p>
                  </a:txBody>
                  <a:tcPr marL="60520" marR="60520" marT="30260" marB="30260" anchor="ctr">
                    <a:lnL>
                      <a:noFill/>
                    </a:lnL>
                    <a:lnR>
                      <a:noFill/>
                    </a:lnR>
                    <a:lnT>
                      <a:noFill/>
                    </a:lnT>
                    <a:lnB>
                      <a:noFill/>
                    </a:lnB>
                    <a:noFill/>
                  </a:tcPr>
                </a:tc>
                <a:extLst>
                  <a:ext uri="{0D108BD9-81ED-4DB2-BD59-A6C34878D82A}">
                    <a16:rowId xmlns:a16="http://schemas.microsoft.com/office/drawing/2014/main" val="3743466618"/>
                  </a:ext>
                </a:extLst>
              </a:tr>
              <a:tr h="592932">
                <a:tc>
                  <a:txBody>
                    <a:bodyPr/>
                    <a:lstStyle/>
                    <a:p>
                      <a:pPr>
                        <a:buNone/>
                      </a:pPr>
                      <a:r>
                        <a:rPr lang="en-IN" sz="1800" b="1"/>
                        <a:t>Security</a:t>
                      </a:r>
                      <a:endParaRPr lang="en-IN" sz="1800"/>
                    </a:p>
                  </a:txBody>
                  <a:tcPr marL="60520" marR="60520" marT="30260" marB="30260" anchor="ctr">
                    <a:lnL>
                      <a:noFill/>
                    </a:lnL>
                    <a:lnR>
                      <a:noFill/>
                    </a:lnR>
                    <a:lnT>
                      <a:noFill/>
                    </a:lnT>
                    <a:lnB>
                      <a:noFill/>
                    </a:lnB>
                    <a:noFill/>
                  </a:tcPr>
                </a:tc>
                <a:tc>
                  <a:txBody>
                    <a:bodyPr/>
                    <a:lstStyle/>
                    <a:p>
                      <a:pPr>
                        <a:buNone/>
                      </a:pPr>
                      <a:r>
                        <a:rPr lang="en-IN" sz="1800"/>
                        <a:t>More secure, restricted operations</a:t>
                      </a:r>
                    </a:p>
                  </a:txBody>
                  <a:tcPr marL="60520" marR="60520" marT="30260" marB="30260" anchor="ctr">
                    <a:lnL>
                      <a:noFill/>
                    </a:lnL>
                    <a:lnR>
                      <a:noFill/>
                    </a:lnR>
                    <a:lnT>
                      <a:noFill/>
                    </a:lnT>
                    <a:lnB>
                      <a:noFill/>
                    </a:lnB>
                    <a:noFill/>
                  </a:tcPr>
                </a:tc>
                <a:tc>
                  <a:txBody>
                    <a:bodyPr/>
                    <a:lstStyle/>
                    <a:p>
                      <a:pPr>
                        <a:buNone/>
                      </a:pPr>
                      <a:r>
                        <a:rPr lang="en-IN" sz="1800"/>
                        <a:t>Less secure, full control</a:t>
                      </a:r>
                    </a:p>
                  </a:txBody>
                  <a:tcPr marL="60520" marR="60520" marT="30260" marB="30260" anchor="ctr">
                    <a:lnL>
                      <a:noFill/>
                    </a:lnL>
                    <a:lnR>
                      <a:noFill/>
                    </a:lnR>
                    <a:lnT>
                      <a:noFill/>
                    </a:lnT>
                    <a:lnB>
                      <a:noFill/>
                    </a:lnB>
                    <a:noFill/>
                  </a:tcPr>
                </a:tc>
                <a:extLst>
                  <a:ext uri="{0D108BD9-81ED-4DB2-BD59-A6C34878D82A}">
                    <a16:rowId xmlns:a16="http://schemas.microsoft.com/office/drawing/2014/main" val="3719352364"/>
                  </a:ext>
                </a:extLst>
              </a:tr>
              <a:tr h="592932">
                <a:tc>
                  <a:txBody>
                    <a:bodyPr/>
                    <a:lstStyle/>
                    <a:p>
                      <a:pPr>
                        <a:buNone/>
                      </a:pPr>
                      <a:r>
                        <a:rPr lang="en-IN" sz="1800" b="1"/>
                        <a:t>Examples</a:t>
                      </a:r>
                      <a:endParaRPr lang="en-IN" sz="1800"/>
                    </a:p>
                  </a:txBody>
                  <a:tcPr marL="60520" marR="60520" marT="30260" marB="30260" anchor="ctr">
                    <a:lnL>
                      <a:noFill/>
                    </a:lnL>
                    <a:lnR>
                      <a:noFill/>
                    </a:lnR>
                    <a:lnT>
                      <a:noFill/>
                    </a:lnT>
                    <a:lnB>
                      <a:noFill/>
                    </a:lnB>
                    <a:noFill/>
                  </a:tcPr>
                </a:tc>
                <a:tc>
                  <a:txBody>
                    <a:bodyPr/>
                    <a:lstStyle/>
                    <a:p>
                      <a:pPr>
                        <a:buNone/>
                      </a:pPr>
                      <a:r>
                        <a:rPr lang="en-US" sz="1800"/>
                        <a:t>Applications like MS Word, browsers, games</a:t>
                      </a:r>
                    </a:p>
                  </a:txBody>
                  <a:tcPr marL="60520" marR="60520" marT="30260" marB="30260" anchor="ctr">
                    <a:lnL>
                      <a:noFill/>
                    </a:lnL>
                    <a:lnR>
                      <a:noFill/>
                    </a:lnR>
                    <a:lnT>
                      <a:noFill/>
                    </a:lnT>
                    <a:lnB>
                      <a:noFill/>
                    </a:lnB>
                    <a:noFill/>
                  </a:tcPr>
                </a:tc>
                <a:tc>
                  <a:txBody>
                    <a:bodyPr/>
                    <a:lstStyle/>
                    <a:p>
                      <a:pPr>
                        <a:buNone/>
                      </a:pPr>
                      <a:r>
                        <a:rPr lang="en-US" sz="1800" dirty="0"/>
                        <a:t>Memory management, device drivers, file system operations</a:t>
                      </a:r>
                    </a:p>
                  </a:txBody>
                  <a:tcPr marL="60520" marR="60520" marT="30260" marB="30260" anchor="ctr">
                    <a:lnL>
                      <a:noFill/>
                    </a:lnL>
                    <a:lnR>
                      <a:noFill/>
                    </a:lnR>
                    <a:lnT>
                      <a:noFill/>
                    </a:lnT>
                    <a:lnB>
                      <a:noFill/>
                    </a:lnB>
                    <a:noFill/>
                  </a:tcPr>
                </a:tc>
                <a:extLst>
                  <a:ext uri="{0D108BD9-81ED-4DB2-BD59-A6C34878D82A}">
                    <a16:rowId xmlns:a16="http://schemas.microsoft.com/office/drawing/2014/main" val="3467047742"/>
                  </a:ext>
                </a:extLst>
              </a:tr>
            </a:tbl>
          </a:graphicData>
        </a:graphic>
      </p:graphicFrame>
      <p:sp>
        <p:nvSpPr>
          <p:cNvPr id="5" name="Rectangle 1">
            <a:extLst>
              <a:ext uri="{FF2B5EF4-FFF2-40B4-BE49-F238E27FC236}">
                <a16:creationId xmlns:a16="http://schemas.microsoft.com/office/drawing/2014/main" id="{BD3487D2-8B03-DA2E-775F-63D26ED6068F}"/>
              </a:ext>
            </a:extLst>
          </p:cNvPr>
          <p:cNvSpPr>
            <a:spLocks noChangeArrowheads="1"/>
          </p:cNvSpPr>
          <p:nvPr/>
        </p:nvSpPr>
        <p:spPr bwMode="auto">
          <a:xfrm>
            <a:off x="3074988" y="1681848"/>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05898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37B482-7BDF-5DF7-7AC1-50D82390000D}"/>
              </a:ext>
            </a:extLst>
          </p:cNvPr>
          <p:cNvSpPr>
            <a:spLocks noGrp="1"/>
          </p:cNvSpPr>
          <p:nvPr>
            <p:ph type="title"/>
          </p:nvPr>
        </p:nvSpPr>
        <p:spPr>
          <a:xfrm>
            <a:off x="226143" y="78659"/>
            <a:ext cx="10828712" cy="5938684"/>
          </a:xfrm>
        </p:spPr>
        <p:txBody>
          <a:bodyPr/>
          <a:lstStyle/>
          <a:p>
            <a:r>
              <a:rPr lang="en-US" cap="none" dirty="0"/>
              <a:t>User Mode</a:t>
            </a:r>
            <a:endParaRPr lang="en-IN" cap="none" dirty="0"/>
          </a:p>
        </p:txBody>
      </p:sp>
    </p:spTree>
    <p:extLst>
      <p:ext uri="{BB962C8B-B14F-4D97-AF65-F5344CB8AC3E}">
        <p14:creationId xmlns:p14="http://schemas.microsoft.com/office/powerpoint/2010/main" val="17837002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123</TotalTime>
  <Words>2942</Words>
  <Application>Microsoft Office PowerPoint</Application>
  <PresentationFormat>Widescreen</PresentationFormat>
  <Paragraphs>235</Paragraphs>
  <Slides>27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Algerian</vt:lpstr>
      <vt:lpstr>Arial</vt:lpstr>
      <vt:lpstr>Bodoni MT</vt:lpstr>
      <vt:lpstr>Calibri</vt:lpstr>
      <vt:lpstr>Cambria</vt:lpstr>
      <vt:lpstr>Cambria Math</vt:lpstr>
      <vt:lpstr>Courier New</vt:lpstr>
      <vt:lpstr>Gill Sans MT</vt:lpstr>
      <vt:lpstr>Sitka Text</vt:lpstr>
      <vt:lpstr>Symbol</vt:lpstr>
      <vt:lpstr>Times New Roman</vt:lpstr>
      <vt:lpstr>Gallery</vt:lpstr>
      <vt:lpstr>Opertaing system</vt:lpstr>
      <vt:lpstr>***Types of Operating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TYPES OF REAL TIME OPERATING SYSTEM</vt:lpstr>
      <vt:lpstr>PowerPoint Presentation</vt:lpstr>
      <vt:lpstr>PowerPoint Presentation</vt:lpstr>
      <vt:lpstr>PowerPoint Presentation</vt:lpstr>
      <vt:lpstr>PowerPoint Presentation</vt:lpstr>
      <vt:lpstr>PowerPoint Presentation</vt:lpstr>
      <vt:lpstr>PowerPoint Presentation</vt:lpstr>
      <vt:lpstr>unit:2       operating system organisation</vt:lpstr>
      <vt:lpstr>PowerPoint Presentation</vt:lpstr>
      <vt:lpstr>PowerPoint Presentation</vt:lpstr>
      <vt:lpstr>PowerPoint Presentation</vt:lpstr>
      <vt:lpstr>User Mode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Abhaymishra14@outlook.com</dc:creator>
  <cp:lastModifiedBy>Abhaymishra14@outlook.com</cp:lastModifiedBy>
  <cp:revision>3</cp:revision>
  <dcterms:created xsi:type="dcterms:W3CDTF">2025-07-18T18:17:11Z</dcterms:created>
  <dcterms:modified xsi:type="dcterms:W3CDTF">2025-07-19T06:00:28Z</dcterms:modified>
</cp:coreProperties>
</file>